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3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67592-F50A-486C-A254-4EA841AC029B}" type="datetimeFigureOut">
              <a:rPr lang="en-IN" smtClean="0"/>
              <a:t>26-07-2026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8150FC-1410-4BA4-BA9E-9981F20A2330}" type="slidenum">
              <a:rPr lang="en-IN" smtClean="0"/>
              <a:t>‹#›</a:t>
            </a:fld>
            <a:endParaRPr lang="en-IN"/>
          </a:p>
        </p:txBody>
      </p:sp>
    </p:spTree>
    <p:extLst>
      <p:ext uri="{BB962C8B-B14F-4D97-AF65-F5344CB8AC3E}">
        <p14:creationId xmlns:p14="http://schemas.microsoft.com/office/powerpoint/2010/main" val="294196849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the Earnova website walkthrough. This demo explains how a customer uses each major service and how the corresponding seller, professional, partner, firm, or administrator receives and manages that work. Earnova brings shopping, professional services, business operations, energy solutions, and earning opportunities into one account, while keeping every workflow traceable and role aware.</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a:t>
            </a:fld>
            <a:endParaRPr lang="en-IN"/>
          </a:p>
        </p:txBody>
      </p:sp>
    </p:spTree>
    <p:extLst>
      <p:ext uri="{BB962C8B-B14F-4D97-AF65-F5344CB8AC3E}">
        <p14:creationId xmlns:p14="http://schemas.microsoft.com/office/powerpoint/2010/main" val="334623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Although Earnova supports many services, the core pattern is consistent. First, a user discovers the right area from one of the five home hubs. Second, the user either purchases an item or submits a structured requirement. Third, an authorized seller, professional, partner, or internal team delivers the product or service. Finally, both sides track status, messages, payment, support, and history in the workspace designed for their role.</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2</a:t>
            </a:fld>
            <a:endParaRPr lang="en-IN"/>
          </a:p>
        </p:txBody>
      </p:sp>
    </p:spTree>
    <p:extLst>
      <p:ext uri="{BB962C8B-B14F-4D97-AF65-F5344CB8AC3E}">
        <p14:creationId xmlns:p14="http://schemas.microsoft.com/office/powerpoint/2010/main" val="3729937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by creating one Earnova account. Customers can register as individuals or business owners. Providers select freelancer, CA or consultant, product seller, or energy partner. The onboarding checklist changes according to that account type. Customers continue through the public site, account area, or business workspace. Providers continue through the Partner dashboard, while members of a verified CA firm can use the dedicated Firm workspace.</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3</a:t>
            </a:fld>
            <a:endParaRPr lang="en-IN"/>
          </a:p>
        </p:txBody>
      </p:sp>
    </p:spTree>
    <p:extLst>
      <p:ext uri="{BB962C8B-B14F-4D97-AF65-F5344CB8AC3E}">
        <p14:creationId xmlns:p14="http://schemas.microsoft.com/office/powerpoint/2010/main" val="117148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shopping, the customer opens the product catalogue, checks a product page, adds items to the cart, and completes checkout. Order history remains available inside the account. On the provider side, a product seller completes the partner profile and verification, maintains listings, watches incoming orders, and updates fulfilment status. This connects the customer purchase directly to the seller operation without requiring separate accounts or tools.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4</a:t>
            </a:fld>
            <a:endParaRPr lang="en-IN"/>
          </a:p>
        </p:txBody>
      </p:sp>
    </p:spTree>
    <p:extLst>
      <p:ext uri="{BB962C8B-B14F-4D97-AF65-F5344CB8AC3E}">
        <p14:creationId xmlns:p14="http://schemas.microsoft.com/office/powerpoint/2010/main" val="3196302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Projects marketplace is designed for ready-to-use digital work. A buyer compares approved listings, reviews the scope and price, purchases through the cart, and then receives buyer-only access to the project and live demo. A seller submits the project, supporting media, deliverable information, and demo link. Earnova administrators review the listing before publication, and completed purchases feed the seller payout record.</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5</a:t>
            </a:fld>
            <a:endParaRPr lang="en-IN"/>
          </a:p>
        </p:txBody>
      </p:sp>
    </p:spTree>
    <p:extLst>
      <p:ext uri="{BB962C8B-B14F-4D97-AF65-F5344CB8AC3E}">
        <p14:creationId xmlns:p14="http://schemas.microsoft.com/office/powerpoint/2010/main" val="255483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freelance work, the customer starts with a service request that explains the category, desired outcome, budget, and timing. Verified freelancers can see matching requests and send a proposal with a message, amount, and delivery days. The customer selects a suitable proposal and follows progress in My Services. The freelancer follows the same job in the Partner workspace through delivery, completion, review, and earnings.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6</a:t>
            </a:fld>
            <a:endParaRPr lang="en-IN"/>
          </a:p>
        </p:txBody>
      </p:sp>
    </p:spTree>
    <p:extLst>
      <p:ext uri="{BB962C8B-B14F-4D97-AF65-F5344CB8AC3E}">
        <p14:creationId xmlns:p14="http://schemas.microsoft.com/office/powerpoint/2010/main" val="3135894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 and tax services use a verification-first workflow. The customer selects a service or verified firm, creates a case, uploads the required documents, and follows the next action, payment, and completion state. Independent CAs submit professional evidence and work through the Partner area after verification. A CA firm can instead manage cases, clients, team members, tasks, documents, consultations, quotes, and billing from the Firm workspace. Sensitive documents are never treated like public listing media.</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7</a:t>
            </a:fld>
            <a:endParaRPr lang="en-IN"/>
          </a:p>
        </p:txBody>
      </p:sp>
    </p:spTree>
    <p:extLst>
      <p:ext uri="{BB962C8B-B14F-4D97-AF65-F5344CB8AC3E}">
        <p14:creationId xmlns:p14="http://schemas.microsoft.com/office/powerpoint/2010/main" val="1825811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consulting follows the general service marketplace workflow. A business explains the operational, strategy, or growth problem and the outcome it needs. Verified consultants review suitable requests and send a proposal with a clear message, price, and delivery window. Once chosen, both sides track the same engagement state. This gives the customer visibility while giving the consultant a structured place for active requests, earnings, reviews, and settings.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8</a:t>
            </a:fld>
            <a:endParaRPr lang="en-IN"/>
          </a:p>
        </p:txBody>
      </p:sp>
    </p:spTree>
    <p:extLst>
      <p:ext uri="{BB962C8B-B14F-4D97-AF65-F5344CB8AC3E}">
        <p14:creationId xmlns:p14="http://schemas.microsoft.com/office/powerpoint/2010/main" val="2066541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Energy customers can explore residential and commercial options, browse solar products, or create an energy enquiry. The enquiry records the customer requirement and makes clear that early estimates are approximate until the site and technical needs are reviewed. A verified energy partner maintains capabilities and service areas in the Partner dashboard, receives relevant requests, and proposes the next step such as assessment, supply, advisory work, or installation.</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9</a:t>
            </a:fld>
            <a:endParaRPr lang="en-IN"/>
          </a:p>
        </p:txBody>
      </p:sp>
    </p:spTree>
    <p:extLst>
      <p:ext uri="{BB962C8B-B14F-4D97-AF65-F5344CB8AC3E}">
        <p14:creationId xmlns:p14="http://schemas.microsoft.com/office/powerpoint/2010/main" val="1083037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B2B procurement is separate from normal shopping because quantities, pricing, delivery, and commercial terms may need review. The buyer submits organisation details and product requirements. Earnova operations and the appropriate supplier validate the request, prepare the commercial response, and send a quotation. The customer receives the quote and the request remains traceable through its status instead of disappearing into an email-only process.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10</a:t>
            </a:fld>
            <a:endParaRPr lang="en-IN"/>
          </a:p>
        </p:txBody>
      </p:sp>
    </p:spTree>
    <p:extLst>
      <p:ext uri="{BB962C8B-B14F-4D97-AF65-F5344CB8AC3E}">
        <p14:creationId xmlns:p14="http://schemas.microsoft.com/office/powerpoint/2010/main" val="2538099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Subsidy Assistance helps a customer understand a likely support pathway before formal application. The customer enters the required details, reviews the calculated guidance, and can submit a request for additional help. An administrator reviews the request, checks the supporting information, adds notes, and updates the status. The guidance should not be confused with final government approval, which remains with the relevant authority.</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11</a:t>
            </a:fld>
            <a:endParaRPr lang="en-IN"/>
          </a:p>
        </p:txBody>
      </p:sp>
    </p:spTree>
    <p:extLst>
      <p:ext uri="{BB962C8B-B14F-4D97-AF65-F5344CB8AC3E}">
        <p14:creationId xmlns:p14="http://schemas.microsoft.com/office/powerpoint/2010/main" val="1257649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Business workspace is Earnova's operating system for owners. A business can manage sales, customers, leads, inventory, invoices, expenses, analytics, and Business AI from one navigation structure. Team access is scoped to the selected business and membership role, so records do not mix across tenants. Platform administrators can separately review the business identity and trust status without deleting or altering the business's operational records.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12</a:t>
            </a:fld>
            <a:endParaRPr lang="en-IN"/>
          </a:p>
        </p:txBody>
      </p:sp>
    </p:spTree>
    <p:extLst>
      <p:ext uri="{BB962C8B-B14F-4D97-AF65-F5344CB8AC3E}">
        <p14:creationId xmlns:p14="http://schemas.microsoft.com/office/powerpoint/2010/main" val="1765374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referral program gives a member a shareable referral link and a dashboard for activity, eligible commission, wallet balance, and withdrawals. Earnova records commission states transparently rather than showing only an unexplained balance. Administrators review the referral ledger and withdrawal queue, approve or reject requests, and preserve the payout history. Access to referrals is controlled separately from standard services.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13</a:t>
            </a:fld>
            <a:endParaRPr lang="en-IN"/>
          </a:p>
        </p:txBody>
      </p:sp>
    </p:spTree>
    <p:extLst>
      <p:ext uri="{BB962C8B-B14F-4D97-AF65-F5344CB8AC3E}">
        <p14:creationId xmlns:p14="http://schemas.microsoft.com/office/powerpoint/2010/main" val="3186682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Across all services, the Account area and My Services dashboard give customers a common place for status and recent activity. If help is needed, a categorized support ticket keeps the customer-visible conversation separate from internal notes. Providers work only in their authorized queues. Administrators manage verification, escalations, payments, platform fees, and audit history. This is the common trust layer that connects every customer and provider workflow.</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14</a:t>
            </a:fld>
            <a:endParaRPr lang="en-IN"/>
          </a:p>
        </p:txBody>
      </p:sp>
    </p:spTree>
    <p:extLst>
      <p:ext uri="{BB962C8B-B14F-4D97-AF65-F5344CB8AC3E}">
        <p14:creationId xmlns:p14="http://schemas.microsoft.com/office/powerpoint/2010/main" val="29259208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easiest way to understand Earnova is to start with the role. Customers discover a service, complete the required purchase or request, and track the outcome from Account or the Business workspace. Providers complete onboarding and verification, then work from the Partner or Firm workspace. Administrators manage the trust and operational layer. Together, these role-specific views create one connected platform without exposing controls to the wrong user.</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15</a:t>
            </a:fld>
            <a:endParaRPr lang="en-IN"/>
          </a:p>
        </p:txBody>
      </p:sp>
    </p:spTree>
    <p:extLst>
      <p:ext uri="{BB962C8B-B14F-4D97-AF65-F5344CB8AC3E}">
        <p14:creationId xmlns:p14="http://schemas.microsoft.com/office/powerpoint/2010/main" val="398844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01230-1F22-3FB6-5075-6B78761C4D8F}"/>
              </a:ext>
            </a:extLst>
          </p:cNvPr>
          <p:cNvSpPr>
            <a:spLocks noGrp="1"/>
          </p:cNvSpPr>
          <p:nvPr>
            <p:ph type="ctrTitle"/>
          </p:nvPr>
        </p:nvSpPr>
        <p:spPr>
          <a:xfrm>
            <a:off x="1524000" y="1122364"/>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2A79A752-F7A5-7EBF-78FE-570BCB087C13}"/>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88D8CB-7D81-511C-0C95-EEC24B9C42E1}"/>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3F9666E2-0E7A-5402-4924-7EC758F90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B23DA1-49DA-57B2-225D-9B15431A3FEE}"/>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910959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B3C71-3FD5-195A-221E-B7DCF046CE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1B806E-8E15-57FB-1F1E-4DA9599073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B226CB-CDCC-9459-7038-432D6AE70F3A}"/>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94A52366-556E-B1E6-F3F9-892218A4A3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34256A-2BAC-0470-8F9A-27F304A82016}"/>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527050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42579-3526-2500-255E-99F595684102}"/>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F6FC03-D4B8-DD62-4E72-5A48680FF580}"/>
              </a:ext>
            </a:extLst>
          </p:cNvPr>
          <p:cNvSpPr>
            <a:spLocks noGrp="1"/>
          </p:cNvSpPr>
          <p:nvPr>
            <p:ph type="body" idx="1"/>
          </p:nvPr>
        </p:nvSpPr>
        <p:spPr>
          <a:xfrm>
            <a:off x="831851" y="4589464"/>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5FC09E-E41E-3F12-3C8A-10070533999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B6F80995-8D41-8BD1-B6B6-FC3898D998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644EE1-C7E6-5064-62EA-E5556B6A08BD}"/>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322965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BE3DC-773A-8822-06FA-99CEFBC56C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60BE10-64F0-D9D8-3ED2-70966F01864E}"/>
              </a:ext>
            </a:extLst>
          </p:cNvPr>
          <p:cNvSpPr>
            <a:spLocks noGrp="1"/>
          </p:cNvSpPr>
          <p:nvPr>
            <p:ph sz="half" idx="1"/>
          </p:nvPr>
        </p:nvSpPr>
        <p:spPr>
          <a:xfrm>
            <a:off x="838200" y="182562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43AE843-BBE3-9EA1-3273-FE7F8EC3D863}"/>
              </a:ext>
            </a:extLst>
          </p:cNvPr>
          <p:cNvSpPr>
            <a:spLocks noGrp="1"/>
          </p:cNvSpPr>
          <p:nvPr>
            <p:ph sz="half" idx="2"/>
          </p:nvPr>
        </p:nvSpPr>
        <p:spPr>
          <a:xfrm>
            <a:off x="6172200" y="182562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643567-0EC5-CEF0-1787-32A2BB426DEB}"/>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6" name="Footer Placeholder 5">
            <a:extLst>
              <a:ext uri="{FF2B5EF4-FFF2-40B4-BE49-F238E27FC236}">
                <a16:creationId xmlns:a16="http://schemas.microsoft.com/office/drawing/2014/main" id="{9DD0E1D2-B0E5-8F7C-361D-DEA472C857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422BE9-AEC8-FADA-DCE3-BD68F5768AA1}"/>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268184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89FA-A75D-7693-DB1E-9B2CDAD6B7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276895-1F14-F6F6-0294-2A2320FEC998}"/>
              </a:ext>
            </a:extLst>
          </p:cNvPr>
          <p:cNvSpPr>
            <a:spLocks noGrp="1"/>
          </p:cNvSpPr>
          <p:nvPr>
            <p:ph type="body" idx="1"/>
          </p:nvPr>
        </p:nvSpPr>
        <p:spPr>
          <a:xfrm>
            <a:off x="839790" y="1681164"/>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B958E48-A7BB-702D-181A-4AEBB5DF04F2}"/>
              </a:ext>
            </a:extLst>
          </p:cNvPr>
          <p:cNvSpPr>
            <a:spLocks noGrp="1"/>
          </p:cNvSpPr>
          <p:nvPr>
            <p:ph sz="half" idx="2"/>
          </p:nvPr>
        </p:nvSpPr>
        <p:spPr>
          <a:xfrm>
            <a:off x="839790"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8F1D4D-B804-4B45-0D4B-C0277D6ADE51}"/>
              </a:ext>
            </a:extLst>
          </p:cNvPr>
          <p:cNvSpPr>
            <a:spLocks noGrp="1"/>
          </p:cNvSpPr>
          <p:nvPr>
            <p:ph type="body" sz="quarter" idx="3"/>
          </p:nvPr>
        </p:nvSpPr>
        <p:spPr>
          <a:xfrm>
            <a:off x="6172201" y="1681164"/>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826F20B-F43F-4228-6639-8A5E89294548}"/>
              </a:ext>
            </a:extLst>
          </p:cNvPr>
          <p:cNvSpPr>
            <a:spLocks noGrp="1"/>
          </p:cNvSpPr>
          <p:nvPr>
            <p:ph sz="quarter" idx="4"/>
          </p:nvPr>
        </p:nvSpPr>
        <p:spPr>
          <a:xfrm>
            <a:off x="6172201"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354B3C-D992-A716-9A52-ED1FA20D1126}"/>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8" name="Footer Placeholder 7">
            <a:extLst>
              <a:ext uri="{FF2B5EF4-FFF2-40B4-BE49-F238E27FC236}">
                <a16:creationId xmlns:a16="http://schemas.microsoft.com/office/drawing/2014/main" id="{D6B3DC0E-70B9-BDE8-D4E2-1937FD6C4A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299B6B-71EB-7C10-0A2F-B36790201131}"/>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1244595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860F-E7CB-DDC6-D5AE-596C134FAF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DE2790-BBED-12EA-804E-1FC5F41D471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4" name="Footer Placeholder 3">
            <a:extLst>
              <a:ext uri="{FF2B5EF4-FFF2-40B4-BE49-F238E27FC236}">
                <a16:creationId xmlns:a16="http://schemas.microsoft.com/office/drawing/2014/main" id="{1EB5B330-9F5F-64DA-B6DD-4B910AF3AE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FD1103-2A88-C862-C9B0-2EC959230C23}"/>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579781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F7D19-1023-6213-4A9E-2B86F6428AD5}"/>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3" name="Footer Placeholder 2">
            <a:extLst>
              <a:ext uri="{FF2B5EF4-FFF2-40B4-BE49-F238E27FC236}">
                <a16:creationId xmlns:a16="http://schemas.microsoft.com/office/drawing/2014/main" id="{25EB5C2B-1C8C-1CB9-3AD8-46399078989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E90F8C-B533-B95D-C0C8-3E32416C96A3}"/>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473057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C6A44-A65E-48E3-CCAB-5F3E586CD836}"/>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948B83-B8C9-6679-09D0-C11D9BBCD6DD}"/>
              </a:ext>
            </a:extLst>
          </p:cNvPr>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CE4FE1-DE47-4D5E-533D-D425BF25D650}"/>
              </a:ext>
            </a:extLst>
          </p:cNvPr>
          <p:cNvSpPr>
            <a:spLocks noGrp="1"/>
          </p:cNvSpPr>
          <p:nvPr>
            <p:ph type="body" sz="half" idx="2"/>
          </p:nvPr>
        </p:nvSpPr>
        <p:spPr>
          <a:xfrm>
            <a:off x="839789"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B8EA2F2-2B17-5F98-535F-C98BEF632BD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6" name="Footer Placeholder 5">
            <a:extLst>
              <a:ext uri="{FF2B5EF4-FFF2-40B4-BE49-F238E27FC236}">
                <a16:creationId xmlns:a16="http://schemas.microsoft.com/office/drawing/2014/main" id="{CF4FCBCE-C8D1-7B89-144E-7A82311151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0FBEB0-BABF-7C0A-C733-C946D50449FA}"/>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319091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B2BA4-A686-FD7E-A378-502649647582}"/>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3B23D4-354B-D19F-8E79-3C2B2B104AE9}"/>
              </a:ext>
            </a:extLst>
          </p:cNvPr>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5C8FF5DF-379E-DB8A-70B0-0E20B68826D6}"/>
              </a:ext>
            </a:extLst>
          </p:cNvPr>
          <p:cNvSpPr>
            <a:spLocks noGrp="1"/>
          </p:cNvSpPr>
          <p:nvPr>
            <p:ph type="body" sz="half" idx="2"/>
          </p:nvPr>
        </p:nvSpPr>
        <p:spPr>
          <a:xfrm>
            <a:off x="839789"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D357358-F03F-25A5-2FDF-4A9C8BD99CD7}"/>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6" name="Footer Placeholder 5">
            <a:extLst>
              <a:ext uri="{FF2B5EF4-FFF2-40B4-BE49-F238E27FC236}">
                <a16:creationId xmlns:a16="http://schemas.microsoft.com/office/drawing/2014/main" id="{A81DA6DC-E599-7A5D-B595-B3BCA4A40D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D9A74F-19F9-E478-CDCB-37AB34FF0E2F}"/>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30755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5778-8545-41EB-5185-960BF0609B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CF45AD-908F-0C8C-90F0-22A8DD96FE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CCE12C-E3F4-4282-0E41-FE62E359C0B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6B26429F-01B9-3852-7BE8-765CE5B6F1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65834A-20DD-47E8-949C-CA175298A608}"/>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3223502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918F06-84C1-0614-4D1B-D7500D1E178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10C462-2F17-A9B7-6370-71DC8AA20FB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79F586-3317-3074-C356-D195AE26E783}"/>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E7F4F977-566B-0670-E2DC-E3A2F97797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EF1510-DBCB-9064-92C3-1110DCB4C59A}"/>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910122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C30F05-5EC5-1908-90F5-994FE4675A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D250C4-07A3-02D1-990B-40B40F3AA188}"/>
              </a:ext>
            </a:extLst>
          </p:cNvPr>
          <p:cNvSpPr>
            <a:spLocks noGrp="1"/>
          </p:cNvSpPr>
          <p:nvPr>
            <p:ph type="body" idx="1"/>
          </p:nvPr>
        </p:nvSpPr>
        <p:spPr>
          <a:xfrm>
            <a:off x="838200" y="1825627"/>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364A71-8F4D-79D4-0023-1B3416535E0D}"/>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99DD2691-BA73-E117-9423-87DA7BF1D1B7}"/>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6B44308-EC35-608F-ADA2-2282032E0F61}"/>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A56B673A-7066-4E8A-993C-CC38DFB24F1C}" type="slidenum">
              <a:rPr lang="en-IN" smtClean="0"/>
              <a:t>‹#›</a:t>
            </a:fld>
            <a:endParaRPr lang="en-IN"/>
          </a:p>
        </p:txBody>
      </p:sp>
    </p:spTree>
    <p:extLst>
      <p:ext uri="{BB962C8B-B14F-4D97-AF65-F5344CB8AC3E}">
        <p14:creationId xmlns:p14="http://schemas.microsoft.com/office/powerpoint/2010/main" val="3868770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wav"/><Relationship Id="rId1" Type="http://schemas.microsoft.com/office/2007/relationships/media" Target="../media/media2.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wav"/><Relationship Id="rId1" Type="http://schemas.microsoft.com/office/2007/relationships/media" Target="../media/media3.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wav"/><Relationship Id="rId1" Type="http://schemas.microsoft.com/office/2007/relationships/media" Target="../media/media4.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wav"/><Relationship Id="rId1" Type="http://schemas.microsoft.com/office/2007/relationships/media" Target="../media/media5.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wav"/><Relationship Id="rId1" Type="http://schemas.microsoft.com/office/2007/relationships/media" Target="../media/media6.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wav"/><Relationship Id="rId1" Type="http://schemas.microsoft.com/office/2007/relationships/media" Target="../media/media7.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wav"/><Relationship Id="rId1" Type="http://schemas.microsoft.com/office/2007/relationships/media" Target="../media/media8.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wav"/><Relationship Id="rId1" Type="http://schemas.microsoft.com/office/2007/relationships/media" Target="../media/media9.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wav"/><Relationship Id="rId1" Type="http://schemas.microsoft.com/office/2007/relationships/media" Target="../media/media10.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wav"/><Relationship Id="rId1" Type="http://schemas.microsoft.com/office/2007/relationships/media" Target="../media/media11.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wav"/><Relationship Id="rId1" Type="http://schemas.microsoft.com/office/2007/relationships/media" Target="../media/media12.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wav"/><Relationship Id="rId1" Type="http://schemas.microsoft.com/office/2007/relationships/media" Target="../media/media13.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wav"/><Relationship Id="rId1" Type="http://schemas.microsoft.com/office/2007/relationships/media" Target="../media/media14.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wav"/><Relationship Id="rId1" Type="http://schemas.microsoft.com/office/2007/relationships/media" Target="../media/media15.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42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386CC8-3EA4-A62E-27D8-07221D2465C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85800" y="635000"/>
            <a:ext cx="3810000" cy="1092200"/>
          </a:xfrm>
          <a:prstGeom prst="rect">
            <a:avLst/>
          </a:prstGeom>
        </p:spPr>
      </p:pic>
      <p:sp>
        <p:nvSpPr>
          <p:cNvPr id="4" name="TextBox 3">
            <a:extLst>
              <a:ext uri="{FF2B5EF4-FFF2-40B4-BE49-F238E27FC236}">
                <a16:creationId xmlns:a16="http://schemas.microsoft.com/office/drawing/2014/main" id="{18B14595-3276-4326-F581-B23731FECFAA}"/>
              </a:ext>
            </a:extLst>
          </p:cNvPr>
          <p:cNvSpPr txBox="1"/>
          <p:nvPr/>
        </p:nvSpPr>
        <p:spPr>
          <a:xfrm>
            <a:off x="685800" y="2311400"/>
            <a:ext cx="10795000" cy="830997"/>
          </a:xfrm>
          <a:prstGeom prst="rect">
            <a:avLst/>
          </a:prstGeom>
          <a:noFill/>
        </p:spPr>
        <p:txBody>
          <a:bodyPr vert="horz" wrap="square" lIns="0" tIns="0" rIns="0" bIns="0" rtlCol="0">
            <a:spAutoFit/>
          </a:bodyPr>
          <a:lstStyle/>
          <a:p>
            <a:r>
              <a:rPr lang="en-IN" sz="5400" b="1">
                <a:solidFill>
                  <a:srgbClr val="FFFFFF"/>
                </a:solidFill>
                <a:latin typeface="Aptos" panose="020B0004020202020204" pitchFamily="34" charset="0"/>
              </a:rPr>
              <a:t>How to use Earnova</a:t>
            </a:r>
          </a:p>
        </p:txBody>
      </p:sp>
      <p:sp>
        <p:nvSpPr>
          <p:cNvPr id="5" name="TextBox 4">
            <a:extLst>
              <a:ext uri="{FF2B5EF4-FFF2-40B4-BE49-F238E27FC236}">
                <a16:creationId xmlns:a16="http://schemas.microsoft.com/office/drawing/2014/main" id="{EA972516-007A-C534-154E-D6C3E7AEC264}"/>
              </a:ext>
            </a:extLst>
          </p:cNvPr>
          <p:cNvSpPr txBox="1"/>
          <p:nvPr/>
        </p:nvSpPr>
        <p:spPr>
          <a:xfrm>
            <a:off x="685800" y="3340100"/>
            <a:ext cx="10287000" cy="384721"/>
          </a:xfrm>
          <a:prstGeom prst="rect">
            <a:avLst/>
          </a:prstGeom>
          <a:noFill/>
        </p:spPr>
        <p:txBody>
          <a:bodyPr vert="horz" wrap="square" lIns="0" tIns="0" rIns="0" bIns="0" rtlCol="0">
            <a:spAutoFit/>
          </a:bodyPr>
          <a:lstStyle/>
          <a:p>
            <a:r>
              <a:rPr lang="en-US" sz="2500">
                <a:solidFill>
                  <a:srgbClr val="BAE6FD"/>
                </a:solidFill>
                <a:latin typeface="Aptos" panose="020B0004020202020204" pitchFamily="34" charset="0"/>
              </a:rPr>
              <a:t>Customer journeys and service-provider workflows</a:t>
            </a:r>
            <a:endParaRPr lang="en-IN" sz="2500">
              <a:solidFill>
                <a:srgbClr val="BAE6FD"/>
              </a:solidFill>
              <a:latin typeface="Aptos" panose="020B0004020202020204" pitchFamily="34" charset="0"/>
            </a:endParaRPr>
          </a:p>
        </p:txBody>
      </p:sp>
      <p:sp>
        <p:nvSpPr>
          <p:cNvPr id="6" name="TextBox 5">
            <a:extLst>
              <a:ext uri="{FF2B5EF4-FFF2-40B4-BE49-F238E27FC236}">
                <a16:creationId xmlns:a16="http://schemas.microsoft.com/office/drawing/2014/main" id="{B9380EB4-98FD-0F81-14E1-599E3AE0C4AC}"/>
              </a:ext>
            </a:extLst>
          </p:cNvPr>
          <p:cNvSpPr txBox="1"/>
          <p:nvPr/>
        </p:nvSpPr>
        <p:spPr>
          <a:xfrm>
            <a:off x="685800" y="4470400"/>
            <a:ext cx="10414000" cy="261610"/>
          </a:xfrm>
          <a:prstGeom prst="rect">
            <a:avLst/>
          </a:prstGeom>
          <a:noFill/>
        </p:spPr>
        <p:txBody>
          <a:bodyPr vert="horz" wrap="square" lIns="0" tIns="0" rIns="0" bIns="0" rtlCol="0">
            <a:spAutoFit/>
          </a:bodyPr>
          <a:lstStyle/>
          <a:p>
            <a:r>
              <a:rPr lang="en-US" sz="1700">
                <a:solidFill>
                  <a:srgbClr val="CBD5E1"/>
                </a:solidFill>
                <a:latin typeface="Aptos" panose="020B0004020202020204" pitchFamily="34" charset="0"/>
              </a:rPr>
              <a:t>Shopping | Professional services | Business | Energy | Earn &amp; Partner</a:t>
            </a:r>
            <a:endParaRPr lang="en-IN" sz="1700">
              <a:solidFill>
                <a:srgbClr val="CBD5E1"/>
              </a:solidFill>
              <a:latin typeface="Aptos" panose="020B0004020202020204" pitchFamily="34" charset="0"/>
            </a:endParaRPr>
          </a:p>
        </p:txBody>
      </p:sp>
      <p:sp>
        <p:nvSpPr>
          <p:cNvPr id="7" name="TextBox 6">
            <a:extLst>
              <a:ext uri="{FF2B5EF4-FFF2-40B4-BE49-F238E27FC236}">
                <a16:creationId xmlns:a16="http://schemas.microsoft.com/office/drawing/2014/main" id="{486B8B36-D57B-DC9E-6DC0-927F0AFE6422}"/>
              </a:ext>
            </a:extLst>
          </p:cNvPr>
          <p:cNvSpPr txBox="1"/>
          <p:nvPr/>
        </p:nvSpPr>
        <p:spPr>
          <a:xfrm>
            <a:off x="685800" y="5765800"/>
            <a:ext cx="3810000" cy="184666"/>
          </a:xfrm>
          <a:prstGeom prst="rect">
            <a:avLst/>
          </a:prstGeom>
          <a:noFill/>
        </p:spPr>
        <p:txBody>
          <a:bodyPr vert="horz" wrap="square" lIns="0" tIns="0" rIns="0" bIns="0" rtlCol="0">
            <a:spAutoFit/>
          </a:bodyPr>
          <a:lstStyle/>
          <a:p>
            <a:r>
              <a:rPr lang="en-IN" sz="1200" b="1">
                <a:solidFill>
                  <a:srgbClr val="F97316"/>
                </a:solidFill>
                <a:latin typeface="Aptos" panose="020B0004020202020204" pitchFamily="34" charset="0"/>
              </a:rPr>
              <a:t>Demo presentation video</a:t>
            </a:r>
          </a:p>
        </p:txBody>
      </p:sp>
      <p:pic>
        <p:nvPicPr>
          <p:cNvPr id="8" name="slide-01">
            <a:hlinkClick r:id="" action="ppaction://media"/>
            <a:extLst>
              <a:ext uri="{FF2B5EF4-FFF2-40B4-BE49-F238E27FC236}">
                <a16:creationId xmlns:a16="http://schemas.microsoft.com/office/drawing/2014/main" id="{540D8375-8569-E02C-9B50-B74F89A762B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3288634695"/>
      </p:ext>
    </p:extLst>
  </p:cSld>
  <p:clrMapOvr>
    <a:masterClrMapping/>
  </p:clrMapOvr>
  <mc:AlternateContent xmlns:mc="http://schemas.openxmlformats.org/markup-compatibility/2006">
    <mc:Choice xmlns:p14="http://schemas.microsoft.com/office/powerpoint/2010/main" Requires="p14">
      <p:transition spd="slow" p14:dur="2000" advClick="0" advTm="29000"/>
    </mc:Choice>
    <mc:Fallback>
      <p:transition spd="slow" advClick="0" advTm="29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44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F16EE5-3827-1FF2-3968-A6D203CA9769}"/>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D865268-4DAE-9F38-C8AF-1B8FEBB14E3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679904A7-BF35-61A3-4D27-3D384537595E}"/>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PLATFORM MAP</a:t>
            </a:r>
          </a:p>
        </p:txBody>
      </p:sp>
      <p:sp>
        <p:nvSpPr>
          <p:cNvPr id="6" name="TextBox 5">
            <a:extLst>
              <a:ext uri="{FF2B5EF4-FFF2-40B4-BE49-F238E27FC236}">
                <a16:creationId xmlns:a16="http://schemas.microsoft.com/office/drawing/2014/main" id="{C82C7DE9-1835-F8E2-1A92-B0695709FBFF}"/>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Every service follows four stages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F8B9A857-1C7B-48E9-A7C9-2BBA93CFFFA7}"/>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The details change by service, but discovery, controlled work, and tracking stay consistent.</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43A6A79D-EA68-998A-8F2F-EA788508687F}"/>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02</a:t>
            </a:r>
          </a:p>
        </p:txBody>
      </p:sp>
      <p:sp>
        <p:nvSpPr>
          <p:cNvPr id="9" name="Rectangle: Rounded Corners 8">
            <a:extLst>
              <a:ext uri="{FF2B5EF4-FFF2-40B4-BE49-F238E27FC236}">
                <a16:creationId xmlns:a16="http://schemas.microsoft.com/office/drawing/2014/main" id="{84118949-BB7D-E8C6-EDC8-7ECA3503EFC7}"/>
              </a:ext>
            </a:extLst>
          </p:cNvPr>
          <p:cNvSpPr/>
          <p:nvPr/>
        </p:nvSpPr>
        <p:spPr>
          <a:xfrm>
            <a:off x="6096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2DF80544-9709-4915-3D15-EC38F0430D53}"/>
              </a:ext>
            </a:extLst>
          </p:cNvPr>
          <p:cNvSpPr/>
          <p:nvPr/>
        </p:nvSpPr>
        <p:spPr>
          <a:xfrm>
            <a:off x="838200" y="2349500"/>
            <a:ext cx="482600" cy="4826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0A983EB-2E07-1BED-2EB7-6099C3C1856F}"/>
              </a:ext>
            </a:extLst>
          </p:cNvPr>
          <p:cNvSpPr txBox="1"/>
          <p:nvPr/>
        </p:nvSpPr>
        <p:spPr>
          <a:xfrm>
            <a:off x="8382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1</a:t>
            </a:r>
          </a:p>
        </p:txBody>
      </p:sp>
      <p:sp>
        <p:nvSpPr>
          <p:cNvPr id="12" name="TextBox 11">
            <a:extLst>
              <a:ext uri="{FF2B5EF4-FFF2-40B4-BE49-F238E27FC236}">
                <a16:creationId xmlns:a16="http://schemas.microsoft.com/office/drawing/2014/main" id="{BEC24392-69E1-711E-8E3C-7B5C00C4F092}"/>
              </a:ext>
            </a:extLst>
          </p:cNvPr>
          <p:cNvSpPr txBox="1"/>
          <p:nvPr/>
        </p:nvSpPr>
        <p:spPr>
          <a:xfrm>
            <a:off x="8636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Discover</a:t>
            </a:r>
          </a:p>
        </p:txBody>
      </p:sp>
      <p:sp>
        <p:nvSpPr>
          <p:cNvPr id="13" name="TextBox 12">
            <a:extLst>
              <a:ext uri="{FF2B5EF4-FFF2-40B4-BE49-F238E27FC236}">
                <a16:creationId xmlns:a16="http://schemas.microsoft.com/office/drawing/2014/main" id="{4955A89C-EF44-3AA5-AA49-F34D4388580E}"/>
              </a:ext>
            </a:extLst>
          </p:cNvPr>
          <p:cNvSpPr txBox="1"/>
          <p:nvPr/>
        </p:nvSpPr>
        <p:spPr>
          <a:xfrm>
            <a:off x="8636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Search a hub and compare the right offer.</a:t>
            </a:r>
            <a:endParaRPr lang="en-IN" sz="1600">
              <a:solidFill>
                <a:srgbClr val="475569"/>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2AAE7372-DC9C-AE6B-8C83-F637E8C2C2E8}"/>
              </a:ext>
            </a:extLst>
          </p:cNvPr>
          <p:cNvSpPr/>
          <p:nvPr/>
        </p:nvSpPr>
        <p:spPr>
          <a:xfrm>
            <a:off x="35052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5EB5DCF-89FB-D676-6DAD-79AC1000203F}"/>
              </a:ext>
            </a:extLst>
          </p:cNvPr>
          <p:cNvSpPr/>
          <p:nvPr/>
        </p:nvSpPr>
        <p:spPr>
          <a:xfrm>
            <a:off x="3733800" y="2349500"/>
            <a:ext cx="482600" cy="4826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9F7C8492-39FD-8840-2659-6A7F1504A2B8}"/>
              </a:ext>
            </a:extLst>
          </p:cNvPr>
          <p:cNvSpPr txBox="1"/>
          <p:nvPr/>
        </p:nvSpPr>
        <p:spPr>
          <a:xfrm>
            <a:off x="37338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2</a:t>
            </a:r>
          </a:p>
        </p:txBody>
      </p:sp>
      <p:sp>
        <p:nvSpPr>
          <p:cNvPr id="17" name="TextBox 16">
            <a:extLst>
              <a:ext uri="{FF2B5EF4-FFF2-40B4-BE49-F238E27FC236}">
                <a16:creationId xmlns:a16="http://schemas.microsoft.com/office/drawing/2014/main" id="{7B75C5F4-94BF-122B-8A6E-9388C64A01AD}"/>
              </a:ext>
            </a:extLst>
          </p:cNvPr>
          <p:cNvSpPr txBox="1"/>
          <p:nvPr/>
        </p:nvSpPr>
        <p:spPr>
          <a:xfrm>
            <a:off x="37592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Request or buy</a:t>
            </a:r>
          </a:p>
        </p:txBody>
      </p:sp>
      <p:sp>
        <p:nvSpPr>
          <p:cNvPr id="18" name="TextBox 17">
            <a:extLst>
              <a:ext uri="{FF2B5EF4-FFF2-40B4-BE49-F238E27FC236}">
                <a16:creationId xmlns:a16="http://schemas.microsoft.com/office/drawing/2014/main" id="{CBD0AB96-21F3-AD82-9D66-644D0DB75592}"/>
              </a:ext>
            </a:extLst>
          </p:cNvPr>
          <p:cNvSpPr txBox="1"/>
          <p:nvPr/>
        </p:nvSpPr>
        <p:spPr>
          <a:xfrm>
            <a:off x="37592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Checkout or submit a structured requirement.</a:t>
            </a:r>
            <a:endParaRPr lang="en-IN" sz="1600">
              <a:solidFill>
                <a:srgbClr val="475569"/>
              </a:solidFill>
              <a:latin typeface="Aptos" panose="020B0004020202020204" pitchFamily="34" charset="0"/>
            </a:endParaRPr>
          </a:p>
        </p:txBody>
      </p:sp>
      <p:sp>
        <p:nvSpPr>
          <p:cNvPr id="19" name="Rectangle: Rounded Corners 18">
            <a:extLst>
              <a:ext uri="{FF2B5EF4-FFF2-40B4-BE49-F238E27FC236}">
                <a16:creationId xmlns:a16="http://schemas.microsoft.com/office/drawing/2014/main" id="{C1A1D33C-1BB7-8BE6-E5D1-99CCABAB4E8C}"/>
              </a:ext>
            </a:extLst>
          </p:cNvPr>
          <p:cNvSpPr/>
          <p:nvPr/>
        </p:nvSpPr>
        <p:spPr>
          <a:xfrm>
            <a:off x="64008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C04F497C-90EE-0075-40A9-EB4EC19232BC}"/>
              </a:ext>
            </a:extLst>
          </p:cNvPr>
          <p:cNvSpPr/>
          <p:nvPr/>
        </p:nvSpPr>
        <p:spPr>
          <a:xfrm>
            <a:off x="6629400" y="2349500"/>
            <a:ext cx="482600" cy="4826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3FC181B6-5785-0EE8-0307-604B24613337}"/>
              </a:ext>
            </a:extLst>
          </p:cNvPr>
          <p:cNvSpPr txBox="1"/>
          <p:nvPr/>
        </p:nvSpPr>
        <p:spPr>
          <a:xfrm>
            <a:off x="66294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3</a:t>
            </a:r>
          </a:p>
        </p:txBody>
      </p:sp>
      <p:sp>
        <p:nvSpPr>
          <p:cNvPr id="22" name="TextBox 21">
            <a:extLst>
              <a:ext uri="{FF2B5EF4-FFF2-40B4-BE49-F238E27FC236}">
                <a16:creationId xmlns:a16="http://schemas.microsoft.com/office/drawing/2014/main" id="{90CA8776-3A4D-73B4-81D5-500368BD033E}"/>
              </a:ext>
            </a:extLst>
          </p:cNvPr>
          <p:cNvSpPr txBox="1"/>
          <p:nvPr/>
        </p:nvSpPr>
        <p:spPr>
          <a:xfrm>
            <a:off x="66548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Deliver</a:t>
            </a:r>
          </a:p>
        </p:txBody>
      </p:sp>
      <p:sp>
        <p:nvSpPr>
          <p:cNvPr id="23" name="TextBox 22">
            <a:extLst>
              <a:ext uri="{FF2B5EF4-FFF2-40B4-BE49-F238E27FC236}">
                <a16:creationId xmlns:a16="http://schemas.microsoft.com/office/drawing/2014/main" id="{CE0C1C09-2D81-CF82-058A-2DCDC37522FC}"/>
              </a:ext>
            </a:extLst>
          </p:cNvPr>
          <p:cNvSpPr txBox="1"/>
          <p:nvPr/>
        </p:nvSpPr>
        <p:spPr>
          <a:xfrm>
            <a:off x="66548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 verified seller or provider completes the work.</a:t>
            </a:r>
            <a:endParaRPr lang="en-IN" sz="1600">
              <a:solidFill>
                <a:srgbClr val="475569"/>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E0210DB9-2B1B-FE5F-094C-7313F2F47B83}"/>
              </a:ext>
            </a:extLst>
          </p:cNvPr>
          <p:cNvSpPr/>
          <p:nvPr/>
        </p:nvSpPr>
        <p:spPr>
          <a:xfrm>
            <a:off x="92964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2641E9C3-1CA0-0504-C3C5-BBF7FECEFEA3}"/>
              </a:ext>
            </a:extLst>
          </p:cNvPr>
          <p:cNvSpPr/>
          <p:nvPr/>
        </p:nvSpPr>
        <p:spPr>
          <a:xfrm>
            <a:off x="9525000" y="2349500"/>
            <a:ext cx="482600" cy="4826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781FD153-DDB3-AE07-CEF8-68D73FBDABE8}"/>
              </a:ext>
            </a:extLst>
          </p:cNvPr>
          <p:cNvSpPr txBox="1"/>
          <p:nvPr/>
        </p:nvSpPr>
        <p:spPr>
          <a:xfrm>
            <a:off x="95250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4</a:t>
            </a:r>
          </a:p>
        </p:txBody>
      </p:sp>
      <p:sp>
        <p:nvSpPr>
          <p:cNvPr id="27" name="TextBox 26">
            <a:extLst>
              <a:ext uri="{FF2B5EF4-FFF2-40B4-BE49-F238E27FC236}">
                <a16:creationId xmlns:a16="http://schemas.microsoft.com/office/drawing/2014/main" id="{8C0A77C4-151B-C895-3F26-D12D6EA28144}"/>
              </a:ext>
            </a:extLst>
          </p:cNvPr>
          <p:cNvSpPr txBox="1"/>
          <p:nvPr/>
        </p:nvSpPr>
        <p:spPr>
          <a:xfrm>
            <a:off x="95504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Track</a:t>
            </a:r>
          </a:p>
        </p:txBody>
      </p:sp>
      <p:sp>
        <p:nvSpPr>
          <p:cNvPr id="28" name="TextBox 27">
            <a:extLst>
              <a:ext uri="{FF2B5EF4-FFF2-40B4-BE49-F238E27FC236}">
                <a16:creationId xmlns:a16="http://schemas.microsoft.com/office/drawing/2014/main" id="{8BE11658-D5BD-69A3-FD74-993C2261BEA9}"/>
              </a:ext>
            </a:extLst>
          </p:cNvPr>
          <p:cNvSpPr txBox="1"/>
          <p:nvPr/>
        </p:nvSpPr>
        <p:spPr>
          <a:xfrm>
            <a:off x="95504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Account history, status, support, and audit close the loop.</a:t>
            </a:r>
            <a:endParaRPr lang="en-IN" sz="1600">
              <a:solidFill>
                <a:srgbClr val="475569"/>
              </a:solidFill>
              <a:latin typeface="Aptos" panose="020B0004020202020204" pitchFamily="34" charset="0"/>
            </a:endParaRPr>
          </a:p>
        </p:txBody>
      </p:sp>
      <p:sp>
        <p:nvSpPr>
          <p:cNvPr id="29" name="Rectangle 28">
            <a:extLst>
              <a:ext uri="{FF2B5EF4-FFF2-40B4-BE49-F238E27FC236}">
                <a16:creationId xmlns:a16="http://schemas.microsoft.com/office/drawing/2014/main" id="{EAF28DA6-1C10-CB9F-D2F7-A506BD1DECD6}"/>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42E4D6F7-C9C8-07AA-A016-94E2B3BC754B}"/>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Home hubs guide discovery. Account, Partner, Firm, and Admin workspaces preserve continuity.</a:t>
            </a:r>
            <a:endParaRPr lang="en-IN" sz="1600" b="1">
              <a:solidFill>
                <a:srgbClr val="0F172A"/>
              </a:solidFill>
              <a:latin typeface="Aptos" panose="020B0004020202020204" pitchFamily="34" charset="0"/>
            </a:endParaRPr>
          </a:p>
        </p:txBody>
      </p:sp>
      <p:pic>
        <p:nvPicPr>
          <p:cNvPr id="31" name="slide-02">
            <a:hlinkClick r:id="" action="ppaction://media"/>
            <a:extLst>
              <a:ext uri="{FF2B5EF4-FFF2-40B4-BE49-F238E27FC236}">
                <a16:creationId xmlns:a16="http://schemas.microsoft.com/office/drawing/2014/main" id="{3CB2A1E0-AC8C-2EB9-E560-2B95AC191AB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336559505"/>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363"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E809A8-4C11-945C-ECCA-E483C03938E7}"/>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35395FD-628D-1571-13B1-F8A5BA470DF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AD25CCC8-D4E1-7B9F-D242-96D1B66A9F5F}"/>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GETTING STARTED</a:t>
            </a:r>
          </a:p>
        </p:txBody>
      </p:sp>
      <p:sp>
        <p:nvSpPr>
          <p:cNvPr id="6" name="TextBox 5">
            <a:extLst>
              <a:ext uri="{FF2B5EF4-FFF2-40B4-BE49-F238E27FC236}">
                <a16:creationId xmlns:a16="http://schemas.microsoft.com/office/drawing/2014/main" id="{9F3BBBDB-6507-D16E-C775-300314ACA705}"/>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One account, the right workspace</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89C0015A-0906-4972-DFED-61EBF5D53E74}"/>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Choose how you will use Earnova, finish onboarding, and continue from one dashboard.</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F66F5355-417F-BC4D-48A0-09ACBDD94342}"/>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03</a:t>
            </a:r>
          </a:p>
        </p:txBody>
      </p:sp>
      <p:sp>
        <p:nvSpPr>
          <p:cNvPr id="9" name="Rectangle: Rounded Corners 8">
            <a:extLst>
              <a:ext uri="{FF2B5EF4-FFF2-40B4-BE49-F238E27FC236}">
                <a16:creationId xmlns:a16="http://schemas.microsoft.com/office/drawing/2014/main" id="{50912C41-9D53-3251-1B26-D39E098D02E2}"/>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AE961D9A-E2B7-02DA-0257-B044A6CA1112}"/>
              </a:ext>
            </a:extLst>
          </p:cNvPr>
          <p:cNvSpPr/>
          <p:nvPr/>
        </p:nvSpPr>
        <p:spPr>
          <a:xfrm>
            <a:off x="635000" y="1625600"/>
            <a:ext cx="101600" cy="400050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F50F2EA-9A83-3700-09A1-AFC659D18CF7}"/>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1871D8"/>
                </a:solidFill>
                <a:latin typeface="Aptos" panose="020B0004020202020204" pitchFamily="34" charset="0"/>
              </a:rPr>
              <a:t>NEW MEMBER</a:t>
            </a:r>
          </a:p>
        </p:txBody>
      </p:sp>
      <p:sp>
        <p:nvSpPr>
          <p:cNvPr id="12" name="TextBox 11">
            <a:extLst>
              <a:ext uri="{FF2B5EF4-FFF2-40B4-BE49-F238E27FC236}">
                <a16:creationId xmlns:a16="http://schemas.microsoft.com/office/drawing/2014/main" id="{0E0C849B-CD6D-996A-9162-002AE1AA5116}"/>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Customer or business owner</a:t>
            </a:r>
          </a:p>
        </p:txBody>
      </p:sp>
      <p:sp>
        <p:nvSpPr>
          <p:cNvPr id="13" name="Oval 12">
            <a:extLst>
              <a:ext uri="{FF2B5EF4-FFF2-40B4-BE49-F238E27FC236}">
                <a16:creationId xmlns:a16="http://schemas.microsoft.com/office/drawing/2014/main" id="{E9907237-143F-FA5D-0EDC-2AB96D664B1C}"/>
              </a:ext>
            </a:extLst>
          </p:cNvPr>
          <p:cNvSpPr/>
          <p:nvPr/>
        </p:nvSpPr>
        <p:spPr>
          <a:xfrm>
            <a:off x="990600" y="30988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3C78A316-B3DA-3CD3-8D47-3C637308B837}"/>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A620F37D-4F07-2F04-FA3E-FF3260761244}"/>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Register and verify your account</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2418EFB3-CDE2-8456-ABD3-200200568551}"/>
              </a:ext>
            </a:extLst>
          </p:cNvPr>
          <p:cNvSpPr/>
          <p:nvPr/>
        </p:nvSpPr>
        <p:spPr>
          <a:xfrm>
            <a:off x="990600" y="36830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EFC38D4-99C3-F224-93F7-1ECCF074E642}"/>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21406F31-AEFA-AE50-8FA8-DB8A201D66AB}"/>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Choose individual or business owner</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076D9A24-08B7-543D-317B-25C09A46C7F3}"/>
              </a:ext>
            </a:extLst>
          </p:cNvPr>
          <p:cNvSpPr/>
          <p:nvPr/>
        </p:nvSpPr>
        <p:spPr>
          <a:xfrm>
            <a:off x="990600" y="42672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AFD9A9D-8F75-01F2-07B9-9341C2A5DC84}"/>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5F801847-05C4-2108-B684-633E35F58171}"/>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Complete the onboarding checklist</a:t>
            </a:r>
          </a:p>
        </p:txBody>
      </p:sp>
      <p:sp>
        <p:nvSpPr>
          <p:cNvPr id="22" name="Oval 21">
            <a:extLst>
              <a:ext uri="{FF2B5EF4-FFF2-40B4-BE49-F238E27FC236}">
                <a16:creationId xmlns:a16="http://schemas.microsoft.com/office/drawing/2014/main" id="{7D451C99-F88E-3CE1-9D95-4565E3759419}"/>
              </a:ext>
            </a:extLst>
          </p:cNvPr>
          <p:cNvSpPr/>
          <p:nvPr/>
        </p:nvSpPr>
        <p:spPr>
          <a:xfrm>
            <a:off x="990600" y="48514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4E8B5294-5AD1-1966-22A2-34846762CA98}"/>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4AF3710F-87F7-61BF-058C-AEB8F5820622}"/>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Start from Home, Account, or Business</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44C91561-3071-2AAD-4AE4-096B0C726422}"/>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A440650F-F93E-E4F6-05CB-3913057E15C5}"/>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CE124EB-D7E0-68DF-9F14-E1F8B9DA0D4B}"/>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NEW PARTNER</a:t>
            </a:r>
          </a:p>
        </p:txBody>
      </p:sp>
      <p:sp>
        <p:nvSpPr>
          <p:cNvPr id="28" name="TextBox 27">
            <a:extLst>
              <a:ext uri="{FF2B5EF4-FFF2-40B4-BE49-F238E27FC236}">
                <a16:creationId xmlns:a16="http://schemas.microsoft.com/office/drawing/2014/main" id="{59F3C524-0433-6646-A0A2-B2978C97A60C}"/>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Service provider or seller</a:t>
            </a:r>
          </a:p>
        </p:txBody>
      </p:sp>
      <p:sp>
        <p:nvSpPr>
          <p:cNvPr id="29" name="Oval 28">
            <a:extLst>
              <a:ext uri="{FF2B5EF4-FFF2-40B4-BE49-F238E27FC236}">
                <a16:creationId xmlns:a16="http://schemas.microsoft.com/office/drawing/2014/main" id="{6374D9A2-C9D0-AE3D-8F78-D1A2BB701754}"/>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1CD478D-10ED-171D-B5D7-528CD3F027C3}"/>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0A428F81-487E-051F-8116-A7843B133E66}"/>
              </a:ext>
            </a:extLst>
          </p:cNvPr>
          <p:cNvSpPr txBox="1"/>
          <p:nvPr/>
        </p:nvSpPr>
        <p:spPr>
          <a:xfrm>
            <a:off x="7175500" y="3086100"/>
            <a:ext cx="3937000" cy="492443"/>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Choose freelancer, CA, seller, or energy partner</a:t>
            </a:r>
          </a:p>
        </p:txBody>
      </p:sp>
      <p:sp>
        <p:nvSpPr>
          <p:cNvPr id="32" name="Oval 31">
            <a:extLst>
              <a:ext uri="{FF2B5EF4-FFF2-40B4-BE49-F238E27FC236}">
                <a16:creationId xmlns:a16="http://schemas.microsoft.com/office/drawing/2014/main" id="{F55A1EC5-1C5B-F9D0-AB7D-3892506712D6}"/>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3EDCA9B0-93AF-35F4-E351-6AC2FACB7DD8}"/>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8E2B5346-C03D-05B8-1982-EF4A11FD6655}"/>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Complete the provider profile</a:t>
            </a:r>
          </a:p>
        </p:txBody>
      </p:sp>
      <p:sp>
        <p:nvSpPr>
          <p:cNvPr id="35" name="Oval 34">
            <a:extLst>
              <a:ext uri="{FF2B5EF4-FFF2-40B4-BE49-F238E27FC236}">
                <a16:creationId xmlns:a16="http://schemas.microsoft.com/office/drawing/2014/main" id="{9996D1A4-D456-95D8-CDF1-327BF5B6AEEC}"/>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C729873E-D006-00D5-EC2F-2CD1C07AE85C}"/>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F882F042-4F6D-D7BA-0685-AD3714961829}"/>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Submit verification details</a:t>
            </a:r>
          </a:p>
        </p:txBody>
      </p:sp>
      <p:sp>
        <p:nvSpPr>
          <p:cNvPr id="38" name="Oval 37">
            <a:extLst>
              <a:ext uri="{FF2B5EF4-FFF2-40B4-BE49-F238E27FC236}">
                <a16:creationId xmlns:a16="http://schemas.microsoft.com/office/drawing/2014/main" id="{0F0B544A-1692-1957-3E13-ED00535FCEEE}"/>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F281E700-DC27-1168-CB98-B529443E9EB4}"/>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4AA65D2E-CD59-5C30-8C5C-67091863ABB5}"/>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the Partner or Firm workspace</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A7F2C373-8FEE-1D9D-8074-1664AC0CE8C6}"/>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9388A6B4-4161-A4E5-5898-5225E764D80B}"/>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Register -&gt; choose account type -&gt; onboard -&gt; use the correct workspace</a:t>
            </a:r>
            <a:endParaRPr lang="en-IN" sz="1600" b="1">
              <a:solidFill>
                <a:srgbClr val="0F172A"/>
              </a:solidFill>
              <a:latin typeface="Aptos" panose="020B0004020202020204" pitchFamily="34" charset="0"/>
            </a:endParaRPr>
          </a:p>
        </p:txBody>
      </p:sp>
      <p:pic>
        <p:nvPicPr>
          <p:cNvPr id="43" name="slide-03">
            <a:hlinkClick r:id="" action="ppaction://media"/>
            <a:extLst>
              <a:ext uri="{FF2B5EF4-FFF2-40B4-BE49-F238E27FC236}">
                <a16:creationId xmlns:a16="http://schemas.microsoft.com/office/drawing/2014/main" id="{F0BB1CEF-DA74-A053-C786-2B9F690B2DD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2454886674"/>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37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1F2882-95CE-3202-A18B-168A3EF0146E}"/>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52A9B213-BC47-E8E1-BEF8-C612F2DB825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33AEFBDB-C515-AF83-50B4-A020902A0484}"/>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SHOPPING</a:t>
            </a:r>
          </a:p>
        </p:txBody>
      </p:sp>
      <p:sp>
        <p:nvSpPr>
          <p:cNvPr id="6" name="TextBox 5">
            <a:extLst>
              <a:ext uri="{FF2B5EF4-FFF2-40B4-BE49-F238E27FC236}">
                <a16:creationId xmlns:a16="http://schemas.microsoft.com/office/drawing/2014/main" id="{0151AE96-7A87-EE75-B843-48C13A3C99C0}"/>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Products move to tracked fulfilment</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77B411D8-8661-FEA5-D813-BFF14E203D85}"/>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buy through the normal cart flow; approved sellers manage listings and orders.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904A6907-C775-F701-6FE0-6BB5BA3976CA}"/>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04</a:t>
            </a:r>
          </a:p>
        </p:txBody>
      </p:sp>
      <p:sp>
        <p:nvSpPr>
          <p:cNvPr id="9" name="Rectangle: Rounded Corners 8">
            <a:extLst>
              <a:ext uri="{FF2B5EF4-FFF2-40B4-BE49-F238E27FC236}">
                <a16:creationId xmlns:a16="http://schemas.microsoft.com/office/drawing/2014/main" id="{7B44D3B7-FE84-AA6B-47E1-02F88CB3C67A}"/>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5DEAB5B4-E493-1078-D48B-41170F839C89}"/>
              </a:ext>
            </a:extLst>
          </p:cNvPr>
          <p:cNvSpPr/>
          <p:nvPr/>
        </p:nvSpPr>
        <p:spPr>
          <a:xfrm>
            <a:off x="635000" y="1625600"/>
            <a:ext cx="101600" cy="400050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AD21A4C-CBE0-8E96-83CF-1F379B279324}"/>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F97316"/>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88043A53-0183-68AE-63B9-7A69C242030C}"/>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Buy a physical product</a:t>
            </a:r>
          </a:p>
        </p:txBody>
      </p:sp>
      <p:sp>
        <p:nvSpPr>
          <p:cNvPr id="13" name="Oval 12">
            <a:extLst>
              <a:ext uri="{FF2B5EF4-FFF2-40B4-BE49-F238E27FC236}">
                <a16:creationId xmlns:a16="http://schemas.microsoft.com/office/drawing/2014/main" id="{AE73A4CC-D2EC-5CFA-D5C4-CE12572B406E}"/>
              </a:ext>
            </a:extLst>
          </p:cNvPr>
          <p:cNvSpPr/>
          <p:nvPr/>
        </p:nvSpPr>
        <p:spPr>
          <a:xfrm>
            <a:off x="990600" y="30988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17DFC68-AE7A-05F3-E5D9-4DFB64C1077F}"/>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53DC6F2B-8B12-8314-5167-5D3DF5FBDB37}"/>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Shopping and browse products</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B7EE55FC-5D71-A202-4669-D358C6FE9551}"/>
              </a:ext>
            </a:extLst>
          </p:cNvPr>
          <p:cNvSpPr/>
          <p:nvPr/>
        </p:nvSpPr>
        <p:spPr>
          <a:xfrm>
            <a:off x="990600" y="36830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2B9F75A6-F7F9-0B57-B324-4BFF1F0F9475}"/>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527A767B-7EE8-6082-B45A-4C75618D0DEB}"/>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product details and availability</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29C30DAC-D38C-E5A6-40AE-EF671BF1EF03}"/>
              </a:ext>
            </a:extLst>
          </p:cNvPr>
          <p:cNvSpPr/>
          <p:nvPr/>
        </p:nvSpPr>
        <p:spPr>
          <a:xfrm>
            <a:off x="990600" y="42672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907AC0B-9F86-0765-A508-C014CE740884}"/>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21D15FA8-C839-5C6C-49E3-B073BD3C36DB}"/>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Add items to cart and checkout</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1FFF6139-B84B-6B6D-CA20-D89967D7FA4D}"/>
              </a:ext>
            </a:extLst>
          </p:cNvPr>
          <p:cNvSpPr/>
          <p:nvPr/>
        </p:nvSpPr>
        <p:spPr>
          <a:xfrm>
            <a:off x="990600" y="48514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D07459BB-219F-1350-AD9D-D303FFD8EB3C}"/>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FF0F9B49-3FEF-BDFF-158C-EF547FC22A0B}"/>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status in My Orders</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D679785-F608-01BF-88D5-05821EEA06FF}"/>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3D5AD261-05BE-5CEC-8AB7-4C267469457B}"/>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2ACD1C6-F29A-2320-9B8C-A384D3916CAD}"/>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PRODUCT SELLER SIDE</a:t>
            </a:r>
          </a:p>
        </p:txBody>
      </p:sp>
      <p:sp>
        <p:nvSpPr>
          <p:cNvPr id="28" name="TextBox 27">
            <a:extLst>
              <a:ext uri="{FF2B5EF4-FFF2-40B4-BE49-F238E27FC236}">
                <a16:creationId xmlns:a16="http://schemas.microsoft.com/office/drawing/2014/main" id="{F906C72D-29F2-E638-351E-F5122E180099}"/>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List and fulfil products</a:t>
            </a:r>
          </a:p>
        </p:txBody>
      </p:sp>
      <p:sp>
        <p:nvSpPr>
          <p:cNvPr id="29" name="Oval 28">
            <a:extLst>
              <a:ext uri="{FF2B5EF4-FFF2-40B4-BE49-F238E27FC236}">
                <a16:creationId xmlns:a16="http://schemas.microsoft.com/office/drawing/2014/main" id="{14DE09E6-347B-655A-E37B-6892606CF6C0}"/>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346F601F-BEFE-19CD-2844-64BB7CC0D594}"/>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EEF0D9AF-5729-108E-3598-76262A1BCFCE}"/>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Complete the seller profile</a:t>
            </a:r>
          </a:p>
        </p:txBody>
      </p:sp>
      <p:sp>
        <p:nvSpPr>
          <p:cNvPr id="32" name="Oval 31">
            <a:extLst>
              <a:ext uri="{FF2B5EF4-FFF2-40B4-BE49-F238E27FC236}">
                <a16:creationId xmlns:a16="http://schemas.microsoft.com/office/drawing/2014/main" id="{775CE8FD-B3F7-C8E8-3247-D48A5941A2F5}"/>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B89AECE3-F6A3-5BBB-DA2E-40BD50B1431B}"/>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39A7580C-E22C-F31C-4907-D28985335D3C}"/>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Create and maintain listings</a:t>
            </a:r>
          </a:p>
        </p:txBody>
      </p:sp>
      <p:sp>
        <p:nvSpPr>
          <p:cNvPr id="35" name="Oval 34">
            <a:extLst>
              <a:ext uri="{FF2B5EF4-FFF2-40B4-BE49-F238E27FC236}">
                <a16:creationId xmlns:a16="http://schemas.microsoft.com/office/drawing/2014/main" id="{8C74182F-66DB-074B-D482-1D4CCEF393B8}"/>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0C74D36-5F2B-DC12-CC99-FDBD74E5DFE3}"/>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5F551116-D4CA-2D41-9058-64602BE11166}"/>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incoming paid orders</a:t>
            </a:r>
          </a:p>
        </p:txBody>
      </p:sp>
      <p:sp>
        <p:nvSpPr>
          <p:cNvPr id="38" name="Oval 37">
            <a:extLst>
              <a:ext uri="{FF2B5EF4-FFF2-40B4-BE49-F238E27FC236}">
                <a16:creationId xmlns:a16="http://schemas.microsoft.com/office/drawing/2014/main" id="{CFBD45D7-FF5E-1D6C-0F39-F3A8A8270F63}"/>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529642D1-1ABB-F814-349A-9021B4306AAF}"/>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CBB64E23-1658-A6FC-1006-0E9CF77DA8F2}"/>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Update fulfilment and delivery status</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253A34A1-8537-136B-95E5-A90E87D92AF6}"/>
              </a:ext>
            </a:extLst>
          </p:cNvPr>
          <p:cNvSpPr/>
          <p:nvPr/>
        </p:nvSpPr>
        <p:spPr>
          <a:xfrm>
            <a:off x="635000" y="5918200"/>
            <a:ext cx="10922000" cy="1905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44A2C666-7BC6-4762-4CE1-DE12F72BF602}"/>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IN" sz="1600" b="1">
                <a:solidFill>
                  <a:srgbClr val="0F172A"/>
                </a:solidFill>
                <a:latin typeface="Aptos" panose="020B0004020202020204" pitchFamily="34" charset="0"/>
              </a:rPr>
              <a:t>Catalogue -&gt; cart -&gt; payment -&gt; seller fulfilment -&gt; order history</a:t>
            </a:r>
          </a:p>
        </p:txBody>
      </p:sp>
      <p:pic>
        <p:nvPicPr>
          <p:cNvPr id="43" name="slide-04">
            <a:hlinkClick r:id="" action="ppaction://media"/>
            <a:extLst>
              <a:ext uri="{FF2B5EF4-FFF2-40B4-BE49-F238E27FC236}">
                <a16:creationId xmlns:a16="http://schemas.microsoft.com/office/drawing/2014/main" id="{5FE4832F-C427-24E8-DFE6-BB620ED044E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1309938435"/>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874"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47DCBD-CD06-6176-B2C5-FA808B9AFDA0}"/>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B6217D24-01FF-0C3E-226E-ED121A6767D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A8B2C7A1-2A84-6F3A-FF3E-BB5844A30063}"/>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PROJECTS MARKETPLACE</a:t>
            </a:r>
          </a:p>
        </p:txBody>
      </p:sp>
      <p:sp>
        <p:nvSpPr>
          <p:cNvPr id="6" name="TextBox 5">
            <a:extLst>
              <a:ext uri="{FF2B5EF4-FFF2-40B4-BE49-F238E27FC236}">
                <a16:creationId xmlns:a16="http://schemas.microsoft.com/office/drawing/2014/main" id="{9811837D-E4D3-3FE9-80A2-163C190A076F}"/>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Projects are reviewed before delivery</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911ADE15-81B1-9042-5A87-945180181161}"/>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Buyers receive the approved project and demo access; sellers manage the listing and payout trail.</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18DB9EDD-2C98-53A9-EED4-DE7DFA4C69C2}"/>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05</a:t>
            </a:r>
          </a:p>
        </p:txBody>
      </p:sp>
      <p:sp>
        <p:nvSpPr>
          <p:cNvPr id="9" name="Rectangle: Rounded Corners 8">
            <a:extLst>
              <a:ext uri="{FF2B5EF4-FFF2-40B4-BE49-F238E27FC236}">
                <a16:creationId xmlns:a16="http://schemas.microsoft.com/office/drawing/2014/main" id="{9BD485BC-D89F-4121-8CE2-53BD4042F68A}"/>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823270B-0E92-8B27-26BC-0B7FE8CB65A4}"/>
              </a:ext>
            </a:extLst>
          </p:cNvPr>
          <p:cNvSpPr/>
          <p:nvPr/>
        </p:nvSpPr>
        <p:spPr>
          <a:xfrm>
            <a:off x="635000" y="1625600"/>
            <a:ext cx="101600" cy="400050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80CE48F-3601-77F0-835F-5C7803D8B03D}"/>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7C3AED"/>
                </a:solidFill>
                <a:latin typeface="Aptos" panose="020B0004020202020204" pitchFamily="34" charset="0"/>
              </a:rPr>
              <a:t>BUYER SIDE</a:t>
            </a:r>
          </a:p>
        </p:txBody>
      </p:sp>
      <p:sp>
        <p:nvSpPr>
          <p:cNvPr id="12" name="TextBox 11">
            <a:extLst>
              <a:ext uri="{FF2B5EF4-FFF2-40B4-BE49-F238E27FC236}">
                <a16:creationId xmlns:a16="http://schemas.microsoft.com/office/drawing/2014/main" id="{8025CA87-2032-2815-9976-1A69E2B81C84}"/>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Purchase a digital project</a:t>
            </a:r>
          </a:p>
        </p:txBody>
      </p:sp>
      <p:sp>
        <p:nvSpPr>
          <p:cNvPr id="13" name="Oval 12">
            <a:extLst>
              <a:ext uri="{FF2B5EF4-FFF2-40B4-BE49-F238E27FC236}">
                <a16:creationId xmlns:a16="http://schemas.microsoft.com/office/drawing/2014/main" id="{A41F4552-2031-6AC5-DB49-D889AD21703B}"/>
              </a:ext>
            </a:extLst>
          </p:cNvPr>
          <p:cNvSpPr/>
          <p:nvPr/>
        </p:nvSpPr>
        <p:spPr>
          <a:xfrm>
            <a:off x="990600" y="30988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916FA7A-FCA1-39E5-CC68-32315030A37C}"/>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8EFD9207-7D0D-21AF-8A71-47078F4597FE}"/>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Browse approved project listings</a:t>
            </a:r>
          </a:p>
        </p:txBody>
      </p:sp>
      <p:sp>
        <p:nvSpPr>
          <p:cNvPr id="16" name="Oval 15">
            <a:extLst>
              <a:ext uri="{FF2B5EF4-FFF2-40B4-BE49-F238E27FC236}">
                <a16:creationId xmlns:a16="http://schemas.microsoft.com/office/drawing/2014/main" id="{28C7C309-FCAC-5478-5679-2A1918E04B92}"/>
              </a:ext>
            </a:extLst>
          </p:cNvPr>
          <p:cNvSpPr/>
          <p:nvPr/>
        </p:nvSpPr>
        <p:spPr>
          <a:xfrm>
            <a:off x="990600" y="36830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D4B9776-ECF5-8D81-5239-11C41C3E4CD8}"/>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EDA1D487-2717-483A-9175-7E2750154151}"/>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scope, price, and screenshots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E27DA311-513F-E081-5711-9A37E1F700D0}"/>
              </a:ext>
            </a:extLst>
          </p:cNvPr>
          <p:cNvSpPr/>
          <p:nvPr/>
        </p:nvSpPr>
        <p:spPr>
          <a:xfrm>
            <a:off x="990600" y="42672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FA6196C1-8454-1679-0B4F-751E5E9238E2}"/>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105D0C58-42B0-218F-8759-383442A6BE50}"/>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Purchase through the cart</a:t>
            </a:r>
          </a:p>
        </p:txBody>
      </p:sp>
      <p:sp>
        <p:nvSpPr>
          <p:cNvPr id="22" name="Oval 21">
            <a:extLst>
              <a:ext uri="{FF2B5EF4-FFF2-40B4-BE49-F238E27FC236}">
                <a16:creationId xmlns:a16="http://schemas.microsoft.com/office/drawing/2014/main" id="{08284048-1C44-821E-8421-FC82BB94E2CB}"/>
              </a:ext>
            </a:extLst>
          </p:cNvPr>
          <p:cNvSpPr/>
          <p:nvPr/>
        </p:nvSpPr>
        <p:spPr>
          <a:xfrm>
            <a:off x="990600" y="48514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701AF46-EC33-3C91-364D-5062C24330E2}"/>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1B66DD5A-B208-4F9A-E5F3-A690EE6682B4}"/>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the paid project and live demo</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8562919D-6919-8D82-3E0F-1FD93DCD5B69}"/>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8D6FE75C-73F0-FC8A-24F1-F0B3AD4A913F}"/>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EB19DDA-59AE-73AB-5295-9C7A8279F295}"/>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PROJECT SELLER SIDE</a:t>
            </a:r>
          </a:p>
        </p:txBody>
      </p:sp>
      <p:sp>
        <p:nvSpPr>
          <p:cNvPr id="28" name="TextBox 27">
            <a:extLst>
              <a:ext uri="{FF2B5EF4-FFF2-40B4-BE49-F238E27FC236}">
                <a16:creationId xmlns:a16="http://schemas.microsoft.com/office/drawing/2014/main" id="{BA7A574F-DD23-A13F-48AF-6D369BAECC81}"/>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US" sz="2000" b="1">
                <a:solidFill>
                  <a:srgbClr val="0F172A"/>
                </a:solidFill>
                <a:latin typeface="Aptos" panose="020B0004020202020204" pitchFamily="34" charset="0"/>
              </a:rPr>
              <a:t>Publish and sell a project</a:t>
            </a:r>
            <a:endParaRPr lang="en-IN" sz="2000" b="1">
              <a:solidFill>
                <a:srgbClr val="0F172A"/>
              </a:solidFill>
              <a:latin typeface="Aptos" panose="020B0004020202020204" pitchFamily="34" charset="0"/>
            </a:endParaRPr>
          </a:p>
        </p:txBody>
      </p:sp>
      <p:sp>
        <p:nvSpPr>
          <p:cNvPr id="29" name="Oval 28">
            <a:extLst>
              <a:ext uri="{FF2B5EF4-FFF2-40B4-BE49-F238E27FC236}">
                <a16:creationId xmlns:a16="http://schemas.microsoft.com/office/drawing/2014/main" id="{8324B5F6-90F7-C1B9-427C-9991A8C0EFF1}"/>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BB33EDC9-2EF0-5CD0-9483-4DCBB1F20867}"/>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8E5EE7C7-E71E-3B70-B8B1-A21901D14739}"/>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project details and media</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D8E8FA93-14DB-4DA2-FFDD-C0B6D3FB16D0}"/>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1809678C-3EBE-CD83-078E-7C9CF668E609}"/>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DD1A9AA3-0EE0-57C7-03E9-BC5FE5A2D469}"/>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Wait for admin approval</a:t>
            </a:r>
          </a:p>
        </p:txBody>
      </p:sp>
      <p:sp>
        <p:nvSpPr>
          <p:cNvPr id="35" name="Oval 34">
            <a:extLst>
              <a:ext uri="{FF2B5EF4-FFF2-40B4-BE49-F238E27FC236}">
                <a16:creationId xmlns:a16="http://schemas.microsoft.com/office/drawing/2014/main" id="{6A645AE2-5C0E-B710-0D8C-F214EDEE02C0}"/>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6214D1C-C599-D6BE-E07D-B8FD6754A585}"/>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3E758905-2833-3F9A-9DD8-F84EE0FF74F0}"/>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Keep deliverables and demo links current</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4A989BD4-99FC-92FD-7C79-90D00D476830}"/>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38D38E3E-2CB5-34B6-942B-7A5BA760095A}"/>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B4B38ABE-9B7B-28A9-69DA-8FFE42C48BDA}"/>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sales and seller payout</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52B22296-90EB-AAF1-D965-0382D8E850E2}"/>
              </a:ext>
            </a:extLst>
          </p:cNvPr>
          <p:cNvSpPr/>
          <p:nvPr/>
        </p:nvSpPr>
        <p:spPr>
          <a:xfrm>
            <a:off x="635000" y="5918200"/>
            <a:ext cx="10922000" cy="1905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CB8F8FB9-2633-C113-E827-F0856213258D}"/>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Seller submission -&gt; admin approval -&gt; buyer purchase -&gt; protected delivery</a:t>
            </a:r>
            <a:endParaRPr lang="en-IN" sz="1600" b="1">
              <a:solidFill>
                <a:srgbClr val="0F172A"/>
              </a:solidFill>
              <a:latin typeface="Aptos" panose="020B0004020202020204" pitchFamily="34" charset="0"/>
            </a:endParaRPr>
          </a:p>
        </p:txBody>
      </p:sp>
      <p:pic>
        <p:nvPicPr>
          <p:cNvPr id="43" name="slide-05">
            <a:hlinkClick r:id="" action="ppaction://media"/>
            <a:extLst>
              <a:ext uri="{FF2B5EF4-FFF2-40B4-BE49-F238E27FC236}">
                <a16:creationId xmlns:a16="http://schemas.microsoft.com/office/drawing/2014/main" id="{80064F9F-8C40-4E1C-DCB7-2731CD5CCD0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3595402658"/>
      </p:ext>
    </p:extLst>
  </p:cSld>
  <p:clrMapOvr>
    <a:masterClrMapping/>
  </p:clrMapOvr>
  <mc:AlternateContent xmlns:mc="http://schemas.openxmlformats.org/markup-compatibility/2006">
    <mc:Choice xmlns:p14="http://schemas.microsoft.com/office/powerpoint/2010/main" Requires="p14">
      <p:transition spd="slow" p14:dur="2000" advClick="0" advTm="32000"/>
    </mc:Choice>
    <mc:Fallback>
      <p:transition spd="slow" advClick="0" advTm="3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97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556EBC-18D5-31DA-606C-E2748687AEBA}"/>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10C3BB2-C667-8599-2371-0DB49A38C8D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CD514C13-8C4E-B0EE-83A3-5FF8125562A2}"/>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FREELANCE SERVICES</a:t>
            </a:r>
          </a:p>
        </p:txBody>
      </p:sp>
      <p:sp>
        <p:nvSpPr>
          <p:cNvPr id="6" name="TextBox 5">
            <a:extLst>
              <a:ext uri="{FF2B5EF4-FFF2-40B4-BE49-F238E27FC236}">
                <a16:creationId xmlns:a16="http://schemas.microsoft.com/office/drawing/2014/main" id="{84C5D5A2-5860-AAFC-E7F0-A1495626132E}"/>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Clear proposals protect both sides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4B8083FA-EF5A-8A40-39A2-6625F5A3AA95}"/>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describe the outcome; verified freelancers compete with transparent proposals.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82F1D6D1-A432-28BC-8C9E-46400BA90F41}"/>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06</a:t>
            </a:r>
          </a:p>
        </p:txBody>
      </p:sp>
      <p:sp>
        <p:nvSpPr>
          <p:cNvPr id="9" name="Rectangle: Rounded Corners 8">
            <a:extLst>
              <a:ext uri="{FF2B5EF4-FFF2-40B4-BE49-F238E27FC236}">
                <a16:creationId xmlns:a16="http://schemas.microsoft.com/office/drawing/2014/main" id="{508E7FDC-DA64-4068-320B-2890F772DA97}"/>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1EF08D8-1F8F-7CE9-9E90-2C8D7C23F910}"/>
              </a:ext>
            </a:extLst>
          </p:cNvPr>
          <p:cNvSpPr/>
          <p:nvPr/>
        </p:nvSpPr>
        <p:spPr>
          <a:xfrm>
            <a:off x="635000" y="1625600"/>
            <a:ext cx="101600" cy="400050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E08A121-567A-B635-C441-23518E4EB358}"/>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7C3AED"/>
                </a:solidFill>
                <a:latin typeface="Aptos" panose="020B0004020202020204" pitchFamily="34" charset="0"/>
              </a:rPr>
              <a:t>CLIENT SIDE</a:t>
            </a:r>
          </a:p>
        </p:txBody>
      </p:sp>
      <p:sp>
        <p:nvSpPr>
          <p:cNvPr id="12" name="TextBox 11">
            <a:extLst>
              <a:ext uri="{FF2B5EF4-FFF2-40B4-BE49-F238E27FC236}">
                <a16:creationId xmlns:a16="http://schemas.microsoft.com/office/drawing/2014/main" id="{A718C46A-98A1-E2E1-9291-0E81F617A124}"/>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Hire a freelancer</a:t>
            </a:r>
          </a:p>
        </p:txBody>
      </p:sp>
      <p:sp>
        <p:nvSpPr>
          <p:cNvPr id="13" name="Oval 12">
            <a:extLst>
              <a:ext uri="{FF2B5EF4-FFF2-40B4-BE49-F238E27FC236}">
                <a16:creationId xmlns:a16="http://schemas.microsoft.com/office/drawing/2014/main" id="{C9A4939B-A2A8-1394-B26D-DEFD275730F0}"/>
              </a:ext>
            </a:extLst>
          </p:cNvPr>
          <p:cNvSpPr/>
          <p:nvPr/>
        </p:nvSpPr>
        <p:spPr>
          <a:xfrm>
            <a:off x="990600" y="30988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AAD2949-B420-A849-E9A3-825EDD058A4D}"/>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B5055502-1A76-03F9-B196-43106A02A4DE}"/>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Services and choose Freelancers</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37472599-E6FF-A397-439F-5F43B2BB6E2D}"/>
              </a:ext>
            </a:extLst>
          </p:cNvPr>
          <p:cNvSpPr/>
          <p:nvPr/>
        </p:nvSpPr>
        <p:spPr>
          <a:xfrm>
            <a:off x="990600" y="36830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ADE54F18-5972-64F0-2DC7-732C68CD8BE6}"/>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3684C3FB-CF03-DA32-1403-F7CB16206439}"/>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Create a request with scope and budget</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26C519B7-F7ED-CBCE-40D8-FAC20D2FC3F2}"/>
              </a:ext>
            </a:extLst>
          </p:cNvPr>
          <p:cNvSpPr/>
          <p:nvPr/>
        </p:nvSpPr>
        <p:spPr>
          <a:xfrm>
            <a:off x="990600" y="42672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FB331F1-9ACA-BAB8-774C-EFD8DEDF38B9}"/>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B6145843-2EE0-384C-CE21-3CF5696722C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Compare provider proposals</a:t>
            </a:r>
          </a:p>
        </p:txBody>
      </p:sp>
      <p:sp>
        <p:nvSpPr>
          <p:cNvPr id="22" name="Oval 21">
            <a:extLst>
              <a:ext uri="{FF2B5EF4-FFF2-40B4-BE49-F238E27FC236}">
                <a16:creationId xmlns:a16="http://schemas.microsoft.com/office/drawing/2014/main" id="{7C13483F-786B-3FA2-399D-357AF12DD222}"/>
              </a:ext>
            </a:extLst>
          </p:cNvPr>
          <p:cNvSpPr/>
          <p:nvPr/>
        </p:nvSpPr>
        <p:spPr>
          <a:xfrm>
            <a:off x="990600" y="48514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10F7639-0D25-0990-E31D-8544CA244272}"/>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97456A7A-F407-FC35-5EBB-687C62179730}"/>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Accept, track, review, and complete</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FB6F140-A492-E341-E312-9032DCFC4C00}"/>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8424E5D5-8140-878D-F2C8-1BD95E486019}"/>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92BCE944-A51E-AB31-88F6-6732501D29C0}"/>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FREELANCER SIDE</a:t>
            </a:r>
          </a:p>
        </p:txBody>
      </p:sp>
      <p:sp>
        <p:nvSpPr>
          <p:cNvPr id="28" name="TextBox 27">
            <a:extLst>
              <a:ext uri="{FF2B5EF4-FFF2-40B4-BE49-F238E27FC236}">
                <a16:creationId xmlns:a16="http://schemas.microsoft.com/office/drawing/2014/main" id="{10B59D73-6819-6699-A556-DE40B628C1B6}"/>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Win and deliver work</a:t>
            </a:r>
          </a:p>
        </p:txBody>
      </p:sp>
      <p:sp>
        <p:nvSpPr>
          <p:cNvPr id="29" name="Oval 28">
            <a:extLst>
              <a:ext uri="{FF2B5EF4-FFF2-40B4-BE49-F238E27FC236}">
                <a16:creationId xmlns:a16="http://schemas.microsoft.com/office/drawing/2014/main" id="{7CF7B888-6D83-C3A1-D47F-874013038A5B}"/>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362991C5-8A88-E4F9-E952-C8330F95C004}"/>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5F336E37-D7BD-8D09-4760-6C0989070D92}"/>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Build a skills and pricing profile</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CEC87AFC-9859-7C01-9AB9-10F8B1DE3FC9}"/>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74D47F32-DA5A-1E20-7337-363B58A48CAA}"/>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D3A2B237-1DEF-0F52-CA7D-9FA36F2E7258}"/>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Pass provider verification</a:t>
            </a:r>
          </a:p>
        </p:txBody>
      </p:sp>
      <p:sp>
        <p:nvSpPr>
          <p:cNvPr id="35" name="Oval 34">
            <a:extLst>
              <a:ext uri="{FF2B5EF4-FFF2-40B4-BE49-F238E27FC236}">
                <a16:creationId xmlns:a16="http://schemas.microsoft.com/office/drawing/2014/main" id="{5FEA88C3-BA0D-C2DA-0382-23C0007E3752}"/>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651026AF-10E7-B3E8-9EB7-D3CC67079C05}"/>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07219780-E97F-6A08-524E-D30DE9F99C1F}"/>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matching open requests</a:t>
            </a:r>
          </a:p>
        </p:txBody>
      </p:sp>
      <p:sp>
        <p:nvSpPr>
          <p:cNvPr id="38" name="Oval 37">
            <a:extLst>
              <a:ext uri="{FF2B5EF4-FFF2-40B4-BE49-F238E27FC236}">
                <a16:creationId xmlns:a16="http://schemas.microsoft.com/office/drawing/2014/main" id="{459FAB16-4C20-AA2D-055B-1366933000D1}"/>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7BBA84AC-4AA7-09FA-3644-351FC1A36EB3}"/>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3CB8F533-19B3-702C-7C76-110536ECC504}"/>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Send proposal, deliver, and earn</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3DEE4DA2-F0A3-F7FA-3BAF-0CA99CCD427C}"/>
              </a:ext>
            </a:extLst>
          </p:cNvPr>
          <p:cNvSpPr/>
          <p:nvPr/>
        </p:nvSpPr>
        <p:spPr>
          <a:xfrm>
            <a:off x="635000" y="5918200"/>
            <a:ext cx="10922000" cy="1905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CF79EFF6-8863-52ED-A515-55697DEC8223}"/>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Request -&gt; proposals -&gt; assignment -&gt; delivery -&gt; completion and review</a:t>
            </a:r>
            <a:endParaRPr lang="en-IN" sz="1600" b="1">
              <a:solidFill>
                <a:srgbClr val="0F172A"/>
              </a:solidFill>
              <a:latin typeface="Aptos" panose="020B0004020202020204" pitchFamily="34" charset="0"/>
            </a:endParaRPr>
          </a:p>
        </p:txBody>
      </p:sp>
      <p:pic>
        <p:nvPicPr>
          <p:cNvPr id="43" name="slide-06">
            <a:hlinkClick r:id="" action="ppaction://media"/>
            <a:extLst>
              <a:ext uri="{FF2B5EF4-FFF2-40B4-BE49-F238E27FC236}">
                <a16:creationId xmlns:a16="http://schemas.microsoft.com/office/drawing/2014/main" id="{086F8461-E0B5-E3D2-3015-587FC4F1EA9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3360524118"/>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78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EF08E9-9C11-E1F3-0B39-CFB259A1899D}"/>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1EA57247-42DC-EADB-4C6F-23C8138C14F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187F91DE-2AFD-83B2-20D2-B6C7CA18AA9F}"/>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CA AND TAX SERVICES</a:t>
            </a:r>
          </a:p>
        </p:txBody>
      </p:sp>
      <p:sp>
        <p:nvSpPr>
          <p:cNvPr id="6" name="TextBox 5">
            <a:extLst>
              <a:ext uri="{FF2B5EF4-FFF2-40B4-BE49-F238E27FC236}">
                <a16:creationId xmlns:a16="http://schemas.microsoft.com/office/drawing/2014/main" id="{66679D8F-249E-C515-7E87-2F21BD397031}"/>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CA cases begin with verified experts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97E82E5D-DCCD-65FF-490E-0540B18BF80D}"/>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choose a service and track the case; verified CAs or firms manage documents and actions.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AAC13187-99A9-1207-DC87-B5CE14515446}"/>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07</a:t>
            </a:r>
          </a:p>
        </p:txBody>
      </p:sp>
      <p:sp>
        <p:nvSpPr>
          <p:cNvPr id="9" name="Rectangle: Rounded Corners 8">
            <a:extLst>
              <a:ext uri="{FF2B5EF4-FFF2-40B4-BE49-F238E27FC236}">
                <a16:creationId xmlns:a16="http://schemas.microsoft.com/office/drawing/2014/main" id="{B23AB9F2-50F3-54A7-55E9-3D3475522EC2}"/>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CCBE770-6F89-4953-B186-37CEDAC795DE}"/>
              </a:ext>
            </a:extLst>
          </p:cNvPr>
          <p:cNvSpPr/>
          <p:nvPr/>
        </p:nvSpPr>
        <p:spPr>
          <a:xfrm>
            <a:off x="635000" y="1625600"/>
            <a:ext cx="101600" cy="400050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5B4510D-AFE6-27AA-0E24-D8843456D4EF}"/>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059669"/>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9968EB69-A220-EAFD-04FE-32D1AF75E3AE}"/>
              </a:ext>
            </a:extLst>
          </p:cNvPr>
          <p:cNvSpPr txBox="1"/>
          <p:nvPr/>
        </p:nvSpPr>
        <p:spPr>
          <a:xfrm>
            <a:off x="990600" y="2260600"/>
            <a:ext cx="4343400" cy="307777"/>
          </a:xfrm>
          <a:prstGeom prst="rect">
            <a:avLst/>
          </a:prstGeom>
          <a:noFill/>
        </p:spPr>
        <p:txBody>
          <a:bodyPr vert="horz" wrap="square" lIns="0" tIns="0" rIns="0" bIns="0" rtlCol="0">
            <a:spAutoFit/>
          </a:bodyPr>
          <a:lstStyle/>
          <a:p>
            <a:r>
              <a:rPr lang="en-US" sz="2000" b="1">
                <a:solidFill>
                  <a:srgbClr val="0F172A"/>
                </a:solidFill>
                <a:latin typeface="Aptos" panose="020B0004020202020204" pitchFamily="34" charset="0"/>
              </a:rPr>
              <a:t>Request CA or tax help</a:t>
            </a:r>
            <a:endParaRPr lang="en-IN" sz="2000" b="1">
              <a:solidFill>
                <a:srgbClr val="0F172A"/>
              </a:solidFill>
              <a:latin typeface="Aptos" panose="020B0004020202020204" pitchFamily="34" charset="0"/>
            </a:endParaRPr>
          </a:p>
        </p:txBody>
      </p:sp>
      <p:sp>
        <p:nvSpPr>
          <p:cNvPr id="13" name="Oval 12">
            <a:extLst>
              <a:ext uri="{FF2B5EF4-FFF2-40B4-BE49-F238E27FC236}">
                <a16:creationId xmlns:a16="http://schemas.microsoft.com/office/drawing/2014/main" id="{3996B05A-C0C7-AB37-E18A-4C7754AE2C0F}"/>
              </a:ext>
            </a:extLst>
          </p:cNvPr>
          <p:cNvSpPr/>
          <p:nvPr/>
        </p:nvSpPr>
        <p:spPr>
          <a:xfrm>
            <a:off x="990600" y="30988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E5B3373-0AAE-D5F4-1B9B-E1C3E1E8CE91}"/>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C6590953-1C2F-AE21-DBF6-6821DE759AC2}"/>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Choose a CA service or verified firm</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4BC93DF9-BEBC-4675-A2E6-64E24B9D394C}"/>
              </a:ext>
            </a:extLst>
          </p:cNvPr>
          <p:cNvSpPr/>
          <p:nvPr/>
        </p:nvSpPr>
        <p:spPr>
          <a:xfrm>
            <a:off x="990600" y="36830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1298D20F-7914-A172-15BE-8DEE888AA819}"/>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9D6A3CBB-D0E1-ACC1-D89C-A6336AC1FA2D}"/>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the case and required details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C5DEC93E-0648-AC43-7FD9-D6B77B3FFDAA}"/>
              </a:ext>
            </a:extLst>
          </p:cNvPr>
          <p:cNvSpPr/>
          <p:nvPr/>
        </p:nvSpPr>
        <p:spPr>
          <a:xfrm>
            <a:off x="990600" y="42672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2B2D3C2-87F1-A374-A4E4-EA54C587E9C9}"/>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DBDC63E9-11F9-B0B0-0AA8-4ADC942A4CD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Upload documents through the case</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998B8FFC-1FC4-CC74-7E31-7A0338BC87FB}"/>
              </a:ext>
            </a:extLst>
          </p:cNvPr>
          <p:cNvSpPr/>
          <p:nvPr/>
        </p:nvSpPr>
        <p:spPr>
          <a:xfrm>
            <a:off x="990600" y="48514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679D5D77-C817-9984-3734-16AEE565D2D1}"/>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F60D84B8-45A4-78AA-72CC-F72F888685CF}"/>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next action, payment, and completion</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7799EC1-3017-0DED-DDCD-5EC9D17C28D5}"/>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500E6A6D-6C37-DC27-F1DE-11D038C44489}"/>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6172B5F-3A60-CC26-FB4D-FEA7DB1E3CF9}"/>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CA PROFESSIONAL SIDE</a:t>
            </a:r>
          </a:p>
        </p:txBody>
      </p:sp>
      <p:sp>
        <p:nvSpPr>
          <p:cNvPr id="28" name="TextBox 27">
            <a:extLst>
              <a:ext uri="{FF2B5EF4-FFF2-40B4-BE49-F238E27FC236}">
                <a16:creationId xmlns:a16="http://schemas.microsoft.com/office/drawing/2014/main" id="{A35AAE32-98D0-0A97-ABEE-B47FE00B649E}"/>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US" sz="2000" b="1">
                <a:solidFill>
                  <a:srgbClr val="0F172A"/>
                </a:solidFill>
                <a:latin typeface="Aptos" panose="020B0004020202020204" pitchFamily="34" charset="0"/>
              </a:rPr>
              <a:t>Review and complete the case</a:t>
            </a:r>
            <a:endParaRPr lang="en-IN" sz="2000" b="1">
              <a:solidFill>
                <a:srgbClr val="0F172A"/>
              </a:solidFill>
              <a:latin typeface="Aptos" panose="020B0004020202020204" pitchFamily="34" charset="0"/>
            </a:endParaRPr>
          </a:p>
        </p:txBody>
      </p:sp>
      <p:sp>
        <p:nvSpPr>
          <p:cNvPr id="29" name="Oval 28">
            <a:extLst>
              <a:ext uri="{FF2B5EF4-FFF2-40B4-BE49-F238E27FC236}">
                <a16:creationId xmlns:a16="http://schemas.microsoft.com/office/drawing/2014/main" id="{660A1CFC-7AEA-6B43-DDE5-DC347201E98C}"/>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2DF8899F-8937-53DE-3EA9-513B71D5D0D0}"/>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165E7AD1-2A76-4C04-D065-878E6E2E7F07}"/>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identity and membership evidence</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CC46CEE7-F7B7-C55D-DFC5-C826632B971C}"/>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37C7F14A-6215-8900-1F7B-160B7D645065}"/>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4A352645-F211-8FA7-C4EF-77485E1E41FE}"/>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Receive admin verification</a:t>
            </a:r>
          </a:p>
        </p:txBody>
      </p:sp>
      <p:sp>
        <p:nvSpPr>
          <p:cNvPr id="35" name="Oval 34">
            <a:extLst>
              <a:ext uri="{FF2B5EF4-FFF2-40B4-BE49-F238E27FC236}">
                <a16:creationId xmlns:a16="http://schemas.microsoft.com/office/drawing/2014/main" id="{9434B786-4E54-E377-EDFF-4E672B43FBF1}"/>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E42A21A-AE45-9716-8BF4-78CD8D74888E}"/>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EB76DB8A-920D-D6EB-6C4C-E3FFB920A983}"/>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Work from Partner or Firm workspace</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C0D23D9F-7759-F28A-679D-243B732C5131}"/>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E3474BC5-7355-C559-93D9-A9F8BABCA30F}"/>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4704A938-9B61-F7EA-288E-6F95A7C80740}"/>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documents, communicate, and close</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04D3805C-74D8-32D4-D0C6-4279A3431468}"/>
              </a:ext>
            </a:extLst>
          </p:cNvPr>
          <p:cNvSpPr/>
          <p:nvPr/>
        </p:nvSpPr>
        <p:spPr>
          <a:xfrm>
            <a:off x="635000" y="5918200"/>
            <a:ext cx="10922000" cy="1905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1CF213D5-A527-6E37-06C9-5332C057EE9A}"/>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Service selection -&gt; secure case -&gt; verified professional -&gt; documented completion</a:t>
            </a:r>
            <a:endParaRPr lang="en-IN" sz="1600" b="1">
              <a:solidFill>
                <a:srgbClr val="0F172A"/>
              </a:solidFill>
              <a:latin typeface="Aptos" panose="020B0004020202020204" pitchFamily="34" charset="0"/>
            </a:endParaRPr>
          </a:p>
        </p:txBody>
      </p:sp>
      <p:pic>
        <p:nvPicPr>
          <p:cNvPr id="43" name="slide-07">
            <a:hlinkClick r:id="" action="ppaction://media"/>
            <a:extLst>
              <a:ext uri="{FF2B5EF4-FFF2-40B4-BE49-F238E27FC236}">
                <a16:creationId xmlns:a16="http://schemas.microsoft.com/office/drawing/2014/main" id="{A4C6560A-0B36-88C7-F64A-5F3365A9E76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1779487763"/>
      </p:ext>
    </p:extLst>
  </p:cSld>
  <p:clrMapOvr>
    <a:masterClrMapping/>
  </p:clrMapOvr>
  <mc:AlternateContent xmlns:mc="http://schemas.openxmlformats.org/markup-compatibility/2006">
    <mc:Choice xmlns:p14="http://schemas.microsoft.com/office/powerpoint/2010/main" Requires="p14">
      <p:transition spd="slow" p14:dur="2000" advClick="0" advTm="39000"/>
    </mc:Choice>
    <mc:Fallback>
      <p:transition spd="slow" advClick="0" advTm="39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247"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C82993-6192-EC7C-2BF2-F6D4C466B9B3}"/>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7ED03BE-AC3A-5866-F99C-E5B7B292845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CD911E74-B436-B26F-B32D-62F75AAE439D}"/>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BUSINESS CONSULTING</a:t>
            </a:r>
          </a:p>
        </p:txBody>
      </p:sp>
      <p:sp>
        <p:nvSpPr>
          <p:cNvPr id="6" name="TextBox 5">
            <a:extLst>
              <a:ext uri="{FF2B5EF4-FFF2-40B4-BE49-F238E27FC236}">
                <a16:creationId xmlns:a16="http://schemas.microsoft.com/office/drawing/2014/main" id="{95802CF8-55CA-1974-B03D-0BDB273643C1}"/>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Consulting follows a tracked lifecycle</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F30AFC7F-1E37-56CB-C620-05DF6421B536}"/>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The business defines the problem; a verified consultant proposes a scope, price, and delivery plan.</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008D4987-37C8-45EA-D8DE-9A13858D30C9}"/>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08</a:t>
            </a:r>
          </a:p>
        </p:txBody>
      </p:sp>
      <p:sp>
        <p:nvSpPr>
          <p:cNvPr id="9" name="Rectangle: Rounded Corners 8">
            <a:extLst>
              <a:ext uri="{FF2B5EF4-FFF2-40B4-BE49-F238E27FC236}">
                <a16:creationId xmlns:a16="http://schemas.microsoft.com/office/drawing/2014/main" id="{F988327C-98DC-7298-E015-9ACB909FF115}"/>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D6520EC-93D6-96A6-EAE0-41890FBA2C97}"/>
              </a:ext>
            </a:extLst>
          </p:cNvPr>
          <p:cNvSpPr/>
          <p:nvPr/>
        </p:nvSpPr>
        <p:spPr>
          <a:xfrm>
            <a:off x="635000" y="1625600"/>
            <a:ext cx="101600" cy="400050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F65B348-C9D0-9401-2DA3-B64DAB42727E}"/>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1871D8"/>
                </a:solidFill>
                <a:latin typeface="Aptos" panose="020B0004020202020204" pitchFamily="34" charset="0"/>
              </a:rPr>
              <a:t>BUSINESS SIDE</a:t>
            </a:r>
          </a:p>
        </p:txBody>
      </p:sp>
      <p:sp>
        <p:nvSpPr>
          <p:cNvPr id="12" name="TextBox 11">
            <a:extLst>
              <a:ext uri="{FF2B5EF4-FFF2-40B4-BE49-F238E27FC236}">
                <a16:creationId xmlns:a16="http://schemas.microsoft.com/office/drawing/2014/main" id="{0CD7DBA4-6EB5-950A-34C0-58342BE03E0D}"/>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Request consulting support</a:t>
            </a:r>
          </a:p>
        </p:txBody>
      </p:sp>
      <p:sp>
        <p:nvSpPr>
          <p:cNvPr id="13" name="Oval 12">
            <a:extLst>
              <a:ext uri="{FF2B5EF4-FFF2-40B4-BE49-F238E27FC236}">
                <a16:creationId xmlns:a16="http://schemas.microsoft.com/office/drawing/2014/main" id="{E570B821-D0D5-F6A3-32A8-EA00286294DC}"/>
              </a:ext>
            </a:extLst>
          </p:cNvPr>
          <p:cNvSpPr/>
          <p:nvPr/>
        </p:nvSpPr>
        <p:spPr>
          <a:xfrm>
            <a:off x="990600" y="30988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A25C66FB-1734-9FAB-1B7B-4181B5986C51}"/>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B10F70D7-8899-6A81-A335-19757D6CA374}"/>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Business Consulting</a:t>
            </a:r>
          </a:p>
        </p:txBody>
      </p:sp>
      <p:sp>
        <p:nvSpPr>
          <p:cNvPr id="16" name="Oval 15">
            <a:extLst>
              <a:ext uri="{FF2B5EF4-FFF2-40B4-BE49-F238E27FC236}">
                <a16:creationId xmlns:a16="http://schemas.microsoft.com/office/drawing/2014/main" id="{7FFFDF48-D7FC-79D5-81A7-979A7209E7A4}"/>
              </a:ext>
            </a:extLst>
          </p:cNvPr>
          <p:cNvSpPr/>
          <p:nvPr/>
        </p:nvSpPr>
        <p:spPr>
          <a:xfrm>
            <a:off x="990600" y="36830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0A11FC2-6990-368E-FABB-31F1E035592A}"/>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81B058DE-79BF-6B22-99AF-1E2D88CDD6A2}"/>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Describe the problem and desired result</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3357EB01-1D0E-EC38-A18E-0AEB3275F72F}"/>
              </a:ext>
            </a:extLst>
          </p:cNvPr>
          <p:cNvSpPr/>
          <p:nvPr/>
        </p:nvSpPr>
        <p:spPr>
          <a:xfrm>
            <a:off x="990600" y="42672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42E9F32F-E5DE-F7EA-3BD7-271B776086D5}"/>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BE51959D-A18F-9BCF-C25C-8D797D09617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Set budget and useful context</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1ACB0D9E-5D64-D160-D64B-19A32ACEE32E}"/>
              </a:ext>
            </a:extLst>
          </p:cNvPr>
          <p:cNvSpPr/>
          <p:nvPr/>
        </p:nvSpPr>
        <p:spPr>
          <a:xfrm>
            <a:off x="990600" y="48514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8647FF17-D705-0C6F-7D28-909738C7C617}"/>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8278C52B-E486-589F-20AB-B27BB4BBF3D1}"/>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Select proposal and track delivery</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66E46427-EA4B-8F29-BE51-6A96A41B029C}"/>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2B40F776-70C7-BDCF-6B00-570259A7A9CA}"/>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0F25F13-4E13-2643-67F8-FD07B5CE39C5}"/>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CONSULTANT SIDE</a:t>
            </a:r>
          </a:p>
        </p:txBody>
      </p:sp>
      <p:sp>
        <p:nvSpPr>
          <p:cNvPr id="28" name="TextBox 27">
            <a:extLst>
              <a:ext uri="{FF2B5EF4-FFF2-40B4-BE49-F238E27FC236}">
                <a16:creationId xmlns:a16="http://schemas.microsoft.com/office/drawing/2014/main" id="{D6CEC38B-8DF3-4CC0-53D1-D2288556570E}"/>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Propose and deliver advice</a:t>
            </a:r>
          </a:p>
        </p:txBody>
      </p:sp>
      <p:sp>
        <p:nvSpPr>
          <p:cNvPr id="29" name="Oval 28">
            <a:extLst>
              <a:ext uri="{FF2B5EF4-FFF2-40B4-BE49-F238E27FC236}">
                <a16:creationId xmlns:a16="http://schemas.microsoft.com/office/drawing/2014/main" id="{7AD1C88E-1D92-339A-A76F-FBA3E1EBE9FE}"/>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E473E484-5017-7B5F-F29F-59B9F84ABDDE}"/>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2968F567-502C-F3AB-7E10-0CC47445097D}"/>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Create a professional profile</a:t>
            </a:r>
          </a:p>
        </p:txBody>
      </p:sp>
      <p:sp>
        <p:nvSpPr>
          <p:cNvPr id="32" name="Oval 31">
            <a:extLst>
              <a:ext uri="{FF2B5EF4-FFF2-40B4-BE49-F238E27FC236}">
                <a16:creationId xmlns:a16="http://schemas.microsoft.com/office/drawing/2014/main" id="{3A43CFEA-5CDF-8F88-220B-D76D1641880E}"/>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A3123993-2C60-578C-B5D0-EA8A00EE25A0}"/>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2140F978-1D10-6A55-37C5-A010303E959A}"/>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List skills, categories, and pricing</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38443678-5584-C054-4BD8-50E3C0318781}"/>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8CE6D83-7AAC-39C7-33D0-1A4C3D4995EB}"/>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D79426D0-F2AF-0916-3556-A55D4EF0DC88}"/>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Send a scoped proposal</a:t>
            </a:r>
          </a:p>
        </p:txBody>
      </p:sp>
      <p:sp>
        <p:nvSpPr>
          <p:cNvPr id="38" name="Oval 37">
            <a:extLst>
              <a:ext uri="{FF2B5EF4-FFF2-40B4-BE49-F238E27FC236}">
                <a16:creationId xmlns:a16="http://schemas.microsoft.com/office/drawing/2014/main" id="{BADB3C1D-A157-5BE1-4132-977412234A45}"/>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24D172B2-F30C-93B8-A45B-1B9C9763CA29}"/>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C133E057-047B-C90D-73ED-C3675F84FA8F}"/>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Deliver recommendations and complete</a:t>
            </a:r>
          </a:p>
        </p:txBody>
      </p:sp>
      <p:sp>
        <p:nvSpPr>
          <p:cNvPr id="41" name="Rectangle 40">
            <a:extLst>
              <a:ext uri="{FF2B5EF4-FFF2-40B4-BE49-F238E27FC236}">
                <a16:creationId xmlns:a16="http://schemas.microsoft.com/office/drawing/2014/main" id="{4B1EBC4F-0488-385A-73B4-BB0247285DD2}"/>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53D662A7-E1F0-8986-A673-443FA9719BD5}"/>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Business problem -&gt; scoped proposal -&gt; tracked engagement -&gt; recorded outcome</a:t>
            </a:r>
            <a:endParaRPr lang="en-IN" sz="1600" b="1">
              <a:solidFill>
                <a:srgbClr val="0F172A"/>
              </a:solidFill>
              <a:latin typeface="Aptos" panose="020B0004020202020204" pitchFamily="34" charset="0"/>
            </a:endParaRPr>
          </a:p>
        </p:txBody>
      </p:sp>
      <p:pic>
        <p:nvPicPr>
          <p:cNvPr id="43" name="slide-08">
            <a:hlinkClick r:id="" action="ppaction://media"/>
            <a:extLst>
              <a:ext uri="{FF2B5EF4-FFF2-40B4-BE49-F238E27FC236}">
                <a16:creationId xmlns:a16="http://schemas.microsoft.com/office/drawing/2014/main" id="{6094B0C4-5D3A-3B47-804C-4B452200772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205895477"/>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19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6D86A5-4A5D-42EC-AAAD-C2AD74F9E0ED}"/>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3344292D-9DA0-03A4-44FA-A53A9FE21BD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53040468-7D96-DC8C-983C-E656000D48DE}"/>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ENERGY SOLUTIONS</a:t>
            </a:r>
          </a:p>
        </p:txBody>
      </p:sp>
      <p:sp>
        <p:nvSpPr>
          <p:cNvPr id="6" name="TextBox 5">
            <a:extLst>
              <a:ext uri="{FF2B5EF4-FFF2-40B4-BE49-F238E27FC236}">
                <a16:creationId xmlns:a16="http://schemas.microsoft.com/office/drawing/2014/main" id="{D6F345C6-868F-9025-2F3D-596348AB9B4C}"/>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Energy requests reach qualified partners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93B59F76-21CD-CC15-B37B-C162C5D46F08}"/>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explore solar options and submit site needs; energy partners respond through service requests.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93A70380-4097-07EB-BA19-FCA524FA8523}"/>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09</a:t>
            </a:r>
          </a:p>
        </p:txBody>
      </p:sp>
      <p:sp>
        <p:nvSpPr>
          <p:cNvPr id="9" name="Rectangle: Rounded Corners 8">
            <a:extLst>
              <a:ext uri="{FF2B5EF4-FFF2-40B4-BE49-F238E27FC236}">
                <a16:creationId xmlns:a16="http://schemas.microsoft.com/office/drawing/2014/main" id="{21C7FA6D-4549-E57B-7A45-B79CAFEF1A4B}"/>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35DD74B0-0500-24F9-E346-CF5AEE50FD85}"/>
              </a:ext>
            </a:extLst>
          </p:cNvPr>
          <p:cNvSpPr/>
          <p:nvPr/>
        </p:nvSpPr>
        <p:spPr>
          <a:xfrm>
            <a:off x="635000" y="1625600"/>
            <a:ext cx="101600" cy="400050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D6C22A3-0E18-38C9-520A-0D52F4548ED4}"/>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059669"/>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B2F70F83-2F3B-8B4B-C2EA-F9557C118012}"/>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Plan an energy solution</a:t>
            </a:r>
          </a:p>
        </p:txBody>
      </p:sp>
      <p:sp>
        <p:nvSpPr>
          <p:cNvPr id="13" name="Oval 12">
            <a:extLst>
              <a:ext uri="{FF2B5EF4-FFF2-40B4-BE49-F238E27FC236}">
                <a16:creationId xmlns:a16="http://schemas.microsoft.com/office/drawing/2014/main" id="{78296866-BED5-3AA1-C232-E6C3068A91DD}"/>
              </a:ext>
            </a:extLst>
          </p:cNvPr>
          <p:cNvSpPr/>
          <p:nvPr/>
        </p:nvSpPr>
        <p:spPr>
          <a:xfrm>
            <a:off x="990600" y="30988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E4041C1-CD59-3BD1-3CF0-F23956DCD616}"/>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CA6E0B5C-4729-76F3-9B45-A764D12DF244}"/>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Energy and choose a solution</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E3F17613-3729-80DA-66F2-AB2015B002CC}"/>
              </a:ext>
            </a:extLst>
          </p:cNvPr>
          <p:cNvSpPr/>
          <p:nvPr/>
        </p:nvSpPr>
        <p:spPr>
          <a:xfrm>
            <a:off x="990600" y="36830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3136B3B-69D6-8021-2EB8-EDEAF3697AD8}"/>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4C746D8E-BF8D-B597-515D-A038BA683A35}"/>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Share residential or commercial needs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2BAA592B-B608-A12F-F577-186BDAE41EEB}"/>
              </a:ext>
            </a:extLst>
          </p:cNvPr>
          <p:cNvSpPr/>
          <p:nvPr/>
        </p:nvSpPr>
        <p:spPr>
          <a:xfrm>
            <a:off x="990600" y="42672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0D0DEB1-2D99-61C2-CBA7-1C39960199F5}"/>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C86DF41F-9262-88B8-CE5C-68EEB74148F8}"/>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Acknowledge the estimate limitations</a:t>
            </a:r>
          </a:p>
        </p:txBody>
      </p:sp>
      <p:sp>
        <p:nvSpPr>
          <p:cNvPr id="22" name="Oval 21">
            <a:extLst>
              <a:ext uri="{FF2B5EF4-FFF2-40B4-BE49-F238E27FC236}">
                <a16:creationId xmlns:a16="http://schemas.microsoft.com/office/drawing/2014/main" id="{1410E9C9-AD31-53BA-A6CB-EDBAAA562DF3}"/>
              </a:ext>
            </a:extLst>
          </p:cNvPr>
          <p:cNvSpPr/>
          <p:nvPr/>
        </p:nvSpPr>
        <p:spPr>
          <a:xfrm>
            <a:off x="990600" y="48514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228F97D9-2298-7BBF-7635-49A6586A1AAA}"/>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4BB66558-E3FC-A397-5FCD-A3195C058233}"/>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the enquiry and partner response</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FC9DEDBD-34F1-BC48-A330-F7F50C415724}"/>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7E2EAAF-26F1-7EE6-D350-6D3514656C06}"/>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9667A183-8892-4F62-B0CE-077E046F7C0E}"/>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ENERGY PARTNER SIDE</a:t>
            </a:r>
          </a:p>
        </p:txBody>
      </p:sp>
      <p:sp>
        <p:nvSpPr>
          <p:cNvPr id="28" name="TextBox 27">
            <a:extLst>
              <a:ext uri="{FF2B5EF4-FFF2-40B4-BE49-F238E27FC236}">
                <a16:creationId xmlns:a16="http://schemas.microsoft.com/office/drawing/2014/main" id="{86E057D6-3AFA-CE38-305F-DC3C24EC4AA2}"/>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Respond to qualified enquiries</a:t>
            </a:r>
          </a:p>
        </p:txBody>
      </p:sp>
      <p:sp>
        <p:nvSpPr>
          <p:cNvPr id="29" name="Oval 28">
            <a:extLst>
              <a:ext uri="{FF2B5EF4-FFF2-40B4-BE49-F238E27FC236}">
                <a16:creationId xmlns:a16="http://schemas.microsoft.com/office/drawing/2014/main" id="{A4D81101-A25B-340F-F2D0-F7C830E9965E}"/>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5D9D70E8-03DF-833A-B010-F89B7620DB61}"/>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F4588B81-BED4-EC84-7FD1-EB4BEF5DB189}"/>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Complete capabilities and service areas</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2DEF494D-64DC-990C-881B-C358F12A9B87}"/>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FA21A756-9780-1032-48D5-0AF7757A23D8}"/>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422D4F10-7FA1-7F48-8A5C-530A9BF6ACFB}"/>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Pass provider verification</a:t>
            </a:r>
          </a:p>
        </p:txBody>
      </p:sp>
      <p:sp>
        <p:nvSpPr>
          <p:cNvPr id="35" name="Oval 34">
            <a:extLst>
              <a:ext uri="{FF2B5EF4-FFF2-40B4-BE49-F238E27FC236}">
                <a16:creationId xmlns:a16="http://schemas.microsoft.com/office/drawing/2014/main" id="{CAF25BE1-5170-B17A-6418-B88B77A48F23}"/>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26CC898E-07CD-F163-4B08-56DD152179FE}"/>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DC99A0B0-22A2-1F29-1770-CE2D200E35F4}"/>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matching energy requests</a:t>
            </a:r>
          </a:p>
        </p:txBody>
      </p:sp>
      <p:sp>
        <p:nvSpPr>
          <p:cNvPr id="38" name="Oval 37">
            <a:extLst>
              <a:ext uri="{FF2B5EF4-FFF2-40B4-BE49-F238E27FC236}">
                <a16:creationId xmlns:a16="http://schemas.microsoft.com/office/drawing/2014/main" id="{17833353-258E-D3BA-386B-BBD6032C851E}"/>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4C761130-4E28-7F76-7D0A-D3C1B04D938D}"/>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A73DF3C1-D484-5044-00EE-98C3E4544D79}"/>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Propose assessment, supply, or installation</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31A21AA1-414D-1209-1C9B-A7106E8675B8}"/>
              </a:ext>
            </a:extLst>
          </p:cNvPr>
          <p:cNvSpPr/>
          <p:nvPr/>
        </p:nvSpPr>
        <p:spPr>
          <a:xfrm>
            <a:off x="635000" y="5918200"/>
            <a:ext cx="10922000" cy="1905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5E191C41-4E71-8BD7-705E-C1D03F137FC8}"/>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Explore -&gt; enquiry -&gt; verified partner response -&gt; assessment and fulfilment</a:t>
            </a:r>
            <a:endParaRPr lang="en-IN" sz="1600" b="1">
              <a:solidFill>
                <a:srgbClr val="0F172A"/>
              </a:solidFill>
              <a:latin typeface="Aptos" panose="020B0004020202020204" pitchFamily="34" charset="0"/>
            </a:endParaRPr>
          </a:p>
        </p:txBody>
      </p:sp>
      <p:pic>
        <p:nvPicPr>
          <p:cNvPr id="43" name="slide-09">
            <a:hlinkClick r:id="" action="ppaction://media"/>
            <a:extLst>
              <a:ext uri="{FF2B5EF4-FFF2-40B4-BE49-F238E27FC236}">
                <a16:creationId xmlns:a16="http://schemas.microsoft.com/office/drawing/2014/main" id="{D4EFC12F-FA2C-A217-AA7F-7B1EB002F88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3564890438"/>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81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EEEA96-C337-F1FD-6E2D-64B3A9378B34}"/>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4ACD989F-2D55-0FFC-C50A-12D4AC8F7296}"/>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067A1BFE-4A1C-7237-3A87-770ADA1A6755}"/>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B2B PROCUREMENT</a:t>
            </a:r>
          </a:p>
        </p:txBody>
      </p:sp>
      <p:sp>
        <p:nvSpPr>
          <p:cNvPr id="6" name="TextBox 5">
            <a:extLst>
              <a:ext uri="{FF2B5EF4-FFF2-40B4-BE49-F238E27FC236}">
                <a16:creationId xmlns:a16="http://schemas.microsoft.com/office/drawing/2014/main" id="{B678338F-4BA2-D09B-E77D-81528675862D}"/>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Bulk orders start with a formal quote</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E2253212-D9FD-0040-5C9B-BEBCE17EF743}"/>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Businesses submit volume requirements; operations and suppliers respond with a controlled quotation.</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CFC0E6A0-71A1-5B82-6F9E-6B77B530B2F5}"/>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10</a:t>
            </a:r>
          </a:p>
        </p:txBody>
      </p:sp>
      <p:sp>
        <p:nvSpPr>
          <p:cNvPr id="9" name="Rectangle: Rounded Corners 8">
            <a:extLst>
              <a:ext uri="{FF2B5EF4-FFF2-40B4-BE49-F238E27FC236}">
                <a16:creationId xmlns:a16="http://schemas.microsoft.com/office/drawing/2014/main" id="{BA800DB9-7AE0-CFEC-F2FF-8D138138D7DE}"/>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88C1AE0-89A5-F37E-DBB3-C2DA016FF50C}"/>
              </a:ext>
            </a:extLst>
          </p:cNvPr>
          <p:cNvSpPr/>
          <p:nvPr/>
        </p:nvSpPr>
        <p:spPr>
          <a:xfrm>
            <a:off x="635000" y="1625600"/>
            <a:ext cx="101600" cy="400050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31776C8-DBF5-3C80-C7F1-CF1870CEA68F}"/>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F97316"/>
                </a:solidFill>
                <a:latin typeface="Aptos" panose="020B0004020202020204" pitchFamily="34" charset="0"/>
              </a:rPr>
              <a:t>BUSINESS BUYER SIDE</a:t>
            </a:r>
          </a:p>
        </p:txBody>
      </p:sp>
      <p:sp>
        <p:nvSpPr>
          <p:cNvPr id="12" name="TextBox 11">
            <a:extLst>
              <a:ext uri="{FF2B5EF4-FFF2-40B4-BE49-F238E27FC236}">
                <a16:creationId xmlns:a16="http://schemas.microsoft.com/office/drawing/2014/main" id="{537FEBB7-5EF6-4A6A-370D-72DD5F666475}"/>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Request a bulk quotation</a:t>
            </a:r>
          </a:p>
        </p:txBody>
      </p:sp>
      <p:sp>
        <p:nvSpPr>
          <p:cNvPr id="13" name="Oval 12">
            <a:extLst>
              <a:ext uri="{FF2B5EF4-FFF2-40B4-BE49-F238E27FC236}">
                <a16:creationId xmlns:a16="http://schemas.microsoft.com/office/drawing/2014/main" id="{29CEC44C-0613-8B8F-BB05-F138D109447E}"/>
              </a:ext>
            </a:extLst>
          </p:cNvPr>
          <p:cNvSpPr/>
          <p:nvPr/>
        </p:nvSpPr>
        <p:spPr>
          <a:xfrm>
            <a:off x="990600" y="30988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829BD1D-60A8-2326-1E01-C79B411DB03D}"/>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810EA7C2-D6B4-57C6-981B-23017D90DD41}"/>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B2B bulk orders</a:t>
            </a:r>
          </a:p>
        </p:txBody>
      </p:sp>
      <p:sp>
        <p:nvSpPr>
          <p:cNvPr id="16" name="Oval 15">
            <a:extLst>
              <a:ext uri="{FF2B5EF4-FFF2-40B4-BE49-F238E27FC236}">
                <a16:creationId xmlns:a16="http://schemas.microsoft.com/office/drawing/2014/main" id="{4CB39D2C-040A-4CD3-6D47-1D4FF0414915}"/>
              </a:ext>
            </a:extLst>
          </p:cNvPr>
          <p:cNvSpPr/>
          <p:nvPr/>
        </p:nvSpPr>
        <p:spPr>
          <a:xfrm>
            <a:off x="990600" y="36830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BC4E9F9F-BBD1-2903-E538-9FFCA31E425A}"/>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13A306E8-0C33-C3CB-B6CB-36D61D13E684}"/>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Add organisation and product requirements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9E8E4ABC-49E8-842E-F7E5-1E85748DFE35}"/>
              </a:ext>
            </a:extLst>
          </p:cNvPr>
          <p:cNvSpPr/>
          <p:nvPr/>
        </p:nvSpPr>
        <p:spPr>
          <a:xfrm>
            <a:off x="990600" y="42672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6CBFFEB-DFC2-2285-DE96-889981501CA8}"/>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2FC69A79-FAE7-2C5F-695C-B3F7A43258C1}"/>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Submit quantities and contact details</a:t>
            </a:r>
          </a:p>
        </p:txBody>
      </p:sp>
      <p:sp>
        <p:nvSpPr>
          <p:cNvPr id="22" name="Oval 21">
            <a:extLst>
              <a:ext uri="{FF2B5EF4-FFF2-40B4-BE49-F238E27FC236}">
                <a16:creationId xmlns:a16="http://schemas.microsoft.com/office/drawing/2014/main" id="{49EF7C31-6261-033B-1311-EB8B8CB83BCF}"/>
              </a:ext>
            </a:extLst>
          </p:cNvPr>
          <p:cNvSpPr/>
          <p:nvPr/>
        </p:nvSpPr>
        <p:spPr>
          <a:xfrm>
            <a:off x="990600" y="48514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FBD59192-010B-7666-34A8-05C1D3E87F1C}"/>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846C82E5-B10B-2922-6167-0D98696E3631}"/>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Receive and review the quotation</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0B15957B-906E-69F7-57FD-764EB0D66C06}"/>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ED7FDCF-10B2-7A7E-C4A9-54BDFB1DB8FF}"/>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56FE1CA-75D1-C076-9526-1B6720A95A52}"/>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OPERATIONS AND SELLER SIDE</a:t>
            </a:r>
          </a:p>
        </p:txBody>
      </p:sp>
      <p:sp>
        <p:nvSpPr>
          <p:cNvPr id="28" name="TextBox 27">
            <a:extLst>
              <a:ext uri="{FF2B5EF4-FFF2-40B4-BE49-F238E27FC236}">
                <a16:creationId xmlns:a16="http://schemas.microsoft.com/office/drawing/2014/main" id="{52029D41-5679-382A-8D79-70D23E93B2DF}"/>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Prepare the B2B response</a:t>
            </a:r>
          </a:p>
        </p:txBody>
      </p:sp>
      <p:sp>
        <p:nvSpPr>
          <p:cNvPr id="29" name="Oval 28">
            <a:extLst>
              <a:ext uri="{FF2B5EF4-FFF2-40B4-BE49-F238E27FC236}">
                <a16:creationId xmlns:a16="http://schemas.microsoft.com/office/drawing/2014/main" id="{00AEA29A-942E-41D6-91B6-54B46B3103B0}"/>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EB70A31C-A3F6-82F8-CC11-1144B5A00456}"/>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F2CEDE8F-DA5D-1C85-27A0-DB71624E29A5}"/>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the request in the admin inbox</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0B72F1CE-EA21-E4A4-5E8F-F807294E497D}"/>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7D25803E-E343-EDF5-3ABE-C822FD6AFDA6}"/>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40B668F4-69DC-C9AC-6DD0-347259EBDC5C}"/>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Validate products, quantity, and delivery</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E1E68FDC-7B26-759B-14CD-92615AA79F95}"/>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0000747F-6C22-3BB7-B846-AFF6B85E4612}"/>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C7B91AF3-4323-FB40-C5B8-F0A0CC141EF3}"/>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Prepare pricing and quotation PDF</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2CE32E6A-B203-D73A-AAC3-6ED58B095387}"/>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CA1CABA7-DD98-C4C4-44B2-DAEEA0602ECD}"/>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33523E04-417F-A7D3-5AA7-15A0CF9FB093}"/>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Send the quote and update its status</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5CA998F4-540D-E984-4561-CE3209BCE89C}"/>
              </a:ext>
            </a:extLst>
          </p:cNvPr>
          <p:cNvSpPr/>
          <p:nvPr/>
        </p:nvSpPr>
        <p:spPr>
          <a:xfrm>
            <a:off x="635000" y="5918200"/>
            <a:ext cx="10922000" cy="1905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EE6FD7EE-D397-0D2B-C044-8807D70C9A75}"/>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Bulk requirement -&gt; operational review -&gt; formal quotation -&gt; agreed fulfilment</a:t>
            </a:r>
            <a:endParaRPr lang="en-IN" sz="1600" b="1">
              <a:solidFill>
                <a:srgbClr val="0F172A"/>
              </a:solidFill>
              <a:latin typeface="Aptos" panose="020B0004020202020204" pitchFamily="34" charset="0"/>
            </a:endParaRPr>
          </a:p>
        </p:txBody>
      </p:sp>
      <p:pic>
        <p:nvPicPr>
          <p:cNvPr id="43" name="slide-10">
            <a:hlinkClick r:id="" action="ppaction://media"/>
            <a:extLst>
              <a:ext uri="{FF2B5EF4-FFF2-40B4-BE49-F238E27FC236}">
                <a16:creationId xmlns:a16="http://schemas.microsoft.com/office/drawing/2014/main" id="{01113C58-6A64-A3E6-6891-5FDE4E7FD58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1728672987"/>
      </p:ext>
    </p:extLst>
  </p:cSld>
  <p:clrMapOvr>
    <a:masterClrMapping/>
  </p:clrMapOvr>
  <mc:AlternateContent xmlns:mc="http://schemas.openxmlformats.org/markup-compatibility/2006">
    <mc:Choice xmlns:p14="http://schemas.microsoft.com/office/powerpoint/2010/main" Requires="p14">
      <p:transition spd="slow" p14:dur="2000" advClick="0" advTm="33000"/>
    </mc:Choice>
    <mc:Fallback>
      <p:transition spd="slow" advClick="0" advTm="3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24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CD635C-BD03-D887-538E-FFDA9E3E7FD9}"/>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691DF6A-AAA6-D277-A5BF-EBCEF145EB2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99E89D97-8F97-B561-49BE-D703C3119F2C}"/>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SUBSIDY ASSISTANCE</a:t>
            </a:r>
          </a:p>
        </p:txBody>
      </p:sp>
      <p:sp>
        <p:nvSpPr>
          <p:cNvPr id="6" name="TextBox 5">
            <a:extLst>
              <a:ext uri="{FF2B5EF4-FFF2-40B4-BE49-F238E27FC236}">
                <a16:creationId xmlns:a16="http://schemas.microsoft.com/office/drawing/2014/main" id="{7983FB29-46E8-1707-CF68-016CE9141BC3}"/>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Guidance is not final subsidy approval</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E5B0C121-58DE-EDE8-C91D-F4B9ED4A44C4}"/>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can check likely pathways; administrators review submitted assistance requests.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C2B435A5-20C2-88C1-B11D-A6CD319E679F}"/>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11</a:t>
            </a:r>
          </a:p>
        </p:txBody>
      </p:sp>
      <p:sp>
        <p:nvSpPr>
          <p:cNvPr id="9" name="Rectangle: Rounded Corners 8">
            <a:extLst>
              <a:ext uri="{FF2B5EF4-FFF2-40B4-BE49-F238E27FC236}">
                <a16:creationId xmlns:a16="http://schemas.microsoft.com/office/drawing/2014/main" id="{50AA4765-1FCB-1320-EA76-98940429B0D4}"/>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3BB979-75BA-2314-1941-CFD7102782B5}"/>
              </a:ext>
            </a:extLst>
          </p:cNvPr>
          <p:cNvSpPr/>
          <p:nvPr/>
        </p:nvSpPr>
        <p:spPr>
          <a:xfrm>
            <a:off x="635000" y="1625600"/>
            <a:ext cx="101600" cy="400050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89636E6-3D8A-485E-C8F6-13F0071B9210}"/>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059669"/>
                </a:solidFill>
                <a:latin typeface="Aptos" panose="020B0004020202020204" pitchFamily="34" charset="0"/>
              </a:rPr>
              <a:t>APPLICANT SIDE</a:t>
            </a:r>
          </a:p>
        </p:txBody>
      </p:sp>
      <p:sp>
        <p:nvSpPr>
          <p:cNvPr id="12" name="TextBox 11">
            <a:extLst>
              <a:ext uri="{FF2B5EF4-FFF2-40B4-BE49-F238E27FC236}">
                <a16:creationId xmlns:a16="http://schemas.microsoft.com/office/drawing/2014/main" id="{BBECEA68-5E5A-0066-04D8-3AE3862F392F}"/>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Check subsidy assistance</a:t>
            </a:r>
          </a:p>
        </p:txBody>
      </p:sp>
      <p:sp>
        <p:nvSpPr>
          <p:cNvPr id="13" name="Oval 12">
            <a:extLst>
              <a:ext uri="{FF2B5EF4-FFF2-40B4-BE49-F238E27FC236}">
                <a16:creationId xmlns:a16="http://schemas.microsoft.com/office/drawing/2014/main" id="{879BC0F7-2134-D1A8-288A-209108219887}"/>
              </a:ext>
            </a:extLst>
          </p:cNvPr>
          <p:cNvSpPr/>
          <p:nvPr/>
        </p:nvSpPr>
        <p:spPr>
          <a:xfrm>
            <a:off x="990600" y="30988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EE6DFC3-C41C-E3BD-AA0F-0E8F25A0E4CE}"/>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6A24CDE2-FDD6-2D80-C7D7-5E6C5362880B}"/>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Subsidy Assistance</a:t>
            </a:r>
          </a:p>
        </p:txBody>
      </p:sp>
      <p:sp>
        <p:nvSpPr>
          <p:cNvPr id="16" name="Oval 15">
            <a:extLst>
              <a:ext uri="{FF2B5EF4-FFF2-40B4-BE49-F238E27FC236}">
                <a16:creationId xmlns:a16="http://schemas.microsoft.com/office/drawing/2014/main" id="{81E1C38C-5392-637A-F5CF-306C8B48D978}"/>
              </a:ext>
            </a:extLst>
          </p:cNvPr>
          <p:cNvSpPr/>
          <p:nvPr/>
        </p:nvSpPr>
        <p:spPr>
          <a:xfrm>
            <a:off x="990600" y="36830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02D4BEB7-1A43-903B-277E-6506CAC31A31}"/>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13A608F8-7845-22C9-7023-75A2A302D9D0}"/>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Enter the required eligibility inputs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EBECAB14-8992-D991-9EA7-5E211DB5FB62}"/>
              </a:ext>
            </a:extLst>
          </p:cNvPr>
          <p:cNvSpPr/>
          <p:nvPr/>
        </p:nvSpPr>
        <p:spPr>
          <a:xfrm>
            <a:off x="990600" y="42672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AA5277B-A6CC-7673-0D95-4C79BB745349}"/>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C8FD34C6-7C2E-85A4-65D9-B39603EB812B}"/>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the calculated guidance</a:t>
            </a:r>
          </a:p>
        </p:txBody>
      </p:sp>
      <p:sp>
        <p:nvSpPr>
          <p:cNvPr id="22" name="Oval 21">
            <a:extLst>
              <a:ext uri="{FF2B5EF4-FFF2-40B4-BE49-F238E27FC236}">
                <a16:creationId xmlns:a16="http://schemas.microsoft.com/office/drawing/2014/main" id="{204DE18D-FB49-3AF6-2B2A-2C2E1E52393C}"/>
              </a:ext>
            </a:extLst>
          </p:cNvPr>
          <p:cNvSpPr/>
          <p:nvPr/>
        </p:nvSpPr>
        <p:spPr>
          <a:xfrm>
            <a:off x="990600" y="48514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7106B116-8199-D6E0-AF61-791CAEF89DE1}"/>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BE53AA17-FE73-7510-6671-ECD388030782}"/>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a request for further help</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AD40848-2562-22F7-EE83-C48FC815E28D}"/>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29A47F4-1A57-18A2-B95E-712B8E800BE6}"/>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71C8824A-0486-AC57-B7C3-97F863CA74E0}"/>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ADMIN SUPPORT SIDE</a:t>
            </a:r>
          </a:p>
        </p:txBody>
      </p:sp>
      <p:sp>
        <p:nvSpPr>
          <p:cNvPr id="28" name="TextBox 27">
            <a:extLst>
              <a:ext uri="{FF2B5EF4-FFF2-40B4-BE49-F238E27FC236}">
                <a16:creationId xmlns:a16="http://schemas.microsoft.com/office/drawing/2014/main" id="{06C00FC8-F082-7D65-4109-27C82A79C098}"/>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Review the assistance request</a:t>
            </a:r>
          </a:p>
        </p:txBody>
      </p:sp>
      <p:sp>
        <p:nvSpPr>
          <p:cNvPr id="29" name="Oval 28">
            <a:extLst>
              <a:ext uri="{FF2B5EF4-FFF2-40B4-BE49-F238E27FC236}">
                <a16:creationId xmlns:a16="http://schemas.microsoft.com/office/drawing/2014/main" id="{7A78610B-5FF4-2FBC-DD44-F8FCE358E132}"/>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D592A88C-0E5F-EA11-0A85-DD1453E052E1}"/>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3E7ABDAE-978C-1404-18C6-CE67328D3FCD}"/>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the subsidy request inbox</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87D04999-CB00-F499-2BCC-FFE647C06FD2}"/>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BC31CFDB-042F-943F-F90B-AEC8FDA98A23}"/>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035E0E8E-00FE-70E3-067E-D663B6B27128}"/>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Check eligibility inputs and documents</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C687B517-A4D7-A6FA-4AD6-AA7D93D4C492}"/>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6773CC4F-2247-33A6-3A37-673969FE6C83}"/>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26A48B5F-4FDA-AE51-52E1-1C699C36D813}"/>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Add notes and update status</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C9531ADE-5362-3F93-0913-9390D05465ED}"/>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F55E1287-E509-024A-8C10-02F089B16CA8}"/>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968DB15F-6A2F-DAF8-9775-A598FD1D983C}"/>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Guide the applicant to the next action</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B6EC652C-BEC4-59BD-D90A-E5E6F9EDF0F6}"/>
              </a:ext>
            </a:extLst>
          </p:cNvPr>
          <p:cNvSpPr/>
          <p:nvPr/>
        </p:nvSpPr>
        <p:spPr>
          <a:xfrm>
            <a:off x="635000" y="5918200"/>
            <a:ext cx="10922000" cy="1905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95B5289C-FBBA-98F4-6A1B-B912BFE06CC4}"/>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Eligibility check -&gt; assistance request -&gt; review -&gt; next-action guidance</a:t>
            </a:r>
            <a:endParaRPr lang="en-IN" sz="1600" b="1">
              <a:solidFill>
                <a:srgbClr val="0F172A"/>
              </a:solidFill>
              <a:latin typeface="Aptos" panose="020B0004020202020204" pitchFamily="34" charset="0"/>
            </a:endParaRPr>
          </a:p>
        </p:txBody>
      </p:sp>
      <p:pic>
        <p:nvPicPr>
          <p:cNvPr id="43" name="slide-11">
            <a:hlinkClick r:id="" action="ppaction://media"/>
            <a:extLst>
              <a:ext uri="{FF2B5EF4-FFF2-40B4-BE49-F238E27FC236}">
                <a16:creationId xmlns:a16="http://schemas.microsoft.com/office/drawing/2014/main" id="{74326B4C-0FC0-D178-4C01-520DD711534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4055045032"/>
      </p:ext>
    </p:extLst>
  </p:cSld>
  <p:clrMapOvr>
    <a:masterClrMapping/>
  </p:clrMapOvr>
  <mc:AlternateContent xmlns:mc="http://schemas.openxmlformats.org/markup-compatibility/2006">
    <mc:Choice xmlns:p14="http://schemas.microsoft.com/office/powerpoint/2010/main" Requires="p14">
      <p:transition spd="slow" p14:dur="2000" advClick="0" advTm="33000"/>
    </mc:Choice>
    <mc:Fallback>
      <p:transition spd="slow" advClick="0" advTm="3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923"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63B18F-C191-8D1F-D27D-F5079BD9B14F}"/>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02F788FA-59D1-10A2-4E4B-49AFEDECF87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3CF96C6F-4BC9-FE9E-4207-7DF6C5FED69C}"/>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BUSINESS WORKSPACE</a:t>
            </a:r>
          </a:p>
        </p:txBody>
      </p:sp>
      <p:sp>
        <p:nvSpPr>
          <p:cNvPr id="6" name="TextBox 5">
            <a:extLst>
              <a:ext uri="{FF2B5EF4-FFF2-40B4-BE49-F238E27FC236}">
                <a16:creationId xmlns:a16="http://schemas.microsoft.com/office/drawing/2014/main" id="{8D44244B-E840-E559-DFCC-C635F2A265E8}"/>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One workspace connects daily operations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2F250CC3-4141-7B4A-AAAE-142889B7BCEA}"/>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Owners manage records and insights; invited team roles operate only within their authorized business.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A90B667D-617D-77D1-2DDE-418D2A0668A9}"/>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12</a:t>
            </a:r>
          </a:p>
        </p:txBody>
      </p:sp>
      <p:sp>
        <p:nvSpPr>
          <p:cNvPr id="9" name="Rectangle: Rounded Corners 8">
            <a:extLst>
              <a:ext uri="{FF2B5EF4-FFF2-40B4-BE49-F238E27FC236}">
                <a16:creationId xmlns:a16="http://schemas.microsoft.com/office/drawing/2014/main" id="{83144B54-3593-F7F2-8887-E1B3EF1C5479}"/>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D8CFD16-BE88-D2D9-0FB0-7979F102FCE8}"/>
              </a:ext>
            </a:extLst>
          </p:cNvPr>
          <p:cNvSpPr/>
          <p:nvPr/>
        </p:nvSpPr>
        <p:spPr>
          <a:xfrm>
            <a:off x="635000" y="1625600"/>
            <a:ext cx="101600" cy="400050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037330B-A28D-EB9A-F253-7051BB578E64}"/>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1871D8"/>
                </a:solidFill>
                <a:latin typeface="Aptos" panose="020B0004020202020204" pitchFamily="34" charset="0"/>
              </a:rPr>
              <a:t>OWNER SIDE</a:t>
            </a:r>
          </a:p>
        </p:txBody>
      </p:sp>
      <p:sp>
        <p:nvSpPr>
          <p:cNvPr id="12" name="TextBox 11">
            <a:extLst>
              <a:ext uri="{FF2B5EF4-FFF2-40B4-BE49-F238E27FC236}">
                <a16:creationId xmlns:a16="http://schemas.microsoft.com/office/drawing/2014/main" id="{19439303-E0C6-8D1D-2575-EC9342469974}"/>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Run the business</a:t>
            </a:r>
          </a:p>
        </p:txBody>
      </p:sp>
      <p:sp>
        <p:nvSpPr>
          <p:cNvPr id="13" name="Oval 12">
            <a:extLst>
              <a:ext uri="{FF2B5EF4-FFF2-40B4-BE49-F238E27FC236}">
                <a16:creationId xmlns:a16="http://schemas.microsoft.com/office/drawing/2014/main" id="{42EE2D13-77E4-7117-68A8-C8B639D775CA}"/>
              </a:ext>
            </a:extLst>
          </p:cNvPr>
          <p:cNvSpPr/>
          <p:nvPr/>
        </p:nvSpPr>
        <p:spPr>
          <a:xfrm>
            <a:off x="990600" y="30988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F62AC36-2619-A5EC-57C3-F06D0CACC09C}"/>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8522EA0B-9C76-5789-EE3E-D691B1AEDC23}"/>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Create the business profile</a:t>
            </a:r>
          </a:p>
        </p:txBody>
      </p:sp>
      <p:sp>
        <p:nvSpPr>
          <p:cNvPr id="16" name="Oval 15">
            <a:extLst>
              <a:ext uri="{FF2B5EF4-FFF2-40B4-BE49-F238E27FC236}">
                <a16:creationId xmlns:a16="http://schemas.microsoft.com/office/drawing/2014/main" id="{C489DF98-C7CE-DA9D-EF42-FA1D492A9401}"/>
              </a:ext>
            </a:extLst>
          </p:cNvPr>
          <p:cNvSpPr/>
          <p:nvPr/>
        </p:nvSpPr>
        <p:spPr>
          <a:xfrm>
            <a:off x="990600" y="36830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8D921A2-28AA-A677-66A5-74FF808FCBC4}"/>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F904F3AB-633E-C0AE-9745-FF4A5779EEBD}"/>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Enter or import sales and customers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5289794D-9CF5-7DDC-42BD-DA0BD1178492}"/>
              </a:ext>
            </a:extLst>
          </p:cNvPr>
          <p:cNvSpPr/>
          <p:nvPr/>
        </p:nvSpPr>
        <p:spPr>
          <a:xfrm>
            <a:off x="990600" y="42672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E21050FE-F9ED-4067-97CF-60673344C05C}"/>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A422784F-A0DC-DFA8-ED93-161498A21CAF}"/>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Manage leads, stock, invoices, and expenses</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F7798D5E-9493-86D6-54C2-B3C509887475}"/>
              </a:ext>
            </a:extLst>
          </p:cNvPr>
          <p:cNvSpPr/>
          <p:nvPr/>
        </p:nvSpPr>
        <p:spPr>
          <a:xfrm>
            <a:off x="990600" y="48514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1AE1F9D3-BDA6-7964-443A-E93A0B1AEA7E}"/>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B3F30C0B-E71C-1247-037E-5DCA37BB1DE5}"/>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analytics and Business AI</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67B3FA75-BA6D-C3D4-4A48-22264CB266FE}"/>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142D4C5-D328-59A4-35E1-AB28648A00DE}"/>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AB7F6768-A14E-6158-D7D4-1E3E9399633F}"/>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TEAM AND ADMIN SIDE</a:t>
            </a:r>
          </a:p>
        </p:txBody>
      </p:sp>
      <p:sp>
        <p:nvSpPr>
          <p:cNvPr id="28" name="TextBox 27">
            <a:extLst>
              <a:ext uri="{FF2B5EF4-FFF2-40B4-BE49-F238E27FC236}">
                <a16:creationId xmlns:a16="http://schemas.microsoft.com/office/drawing/2014/main" id="{E02998D1-31D0-D27E-13AA-8E241710DA14}"/>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Collaborate with controlled access</a:t>
            </a:r>
          </a:p>
        </p:txBody>
      </p:sp>
      <p:sp>
        <p:nvSpPr>
          <p:cNvPr id="29" name="Oval 28">
            <a:extLst>
              <a:ext uri="{FF2B5EF4-FFF2-40B4-BE49-F238E27FC236}">
                <a16:creationId xmlns:a16="http://schemas.microsoft.com/office/drawing/2014/main" id="{19029E89-2F04-89A7-D08A-86959C5180D8}"/>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81CD7895-B09B-A6CB-A696-C469D1221DA2}"/>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A4232EA8-F150-5DB9-E6EB-78E971F1B130}"/>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Join the selected business membership</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48D07B11-E438-0637-0917-2721C345535C}"/>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47FB46CB-5395-A16E-ABAC-779A62D223E0}"/>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7D2F78F4-BA94-383B-B40E-762F483E5ABF}"/>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Work only within assigned permissions</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1F53F1A4-EB02-ABD8-EA30-FE53CE3F84A7}"/>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F798AA5C-CE13-AA6B-651E-52ADEA0865E4}"/>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69A0F2C6-2997-C1F2-BE46-A4A8DDC9F281}"/>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Maintain authorized operational records</a:t>
            </a:r>
          </a:p>
        </p:txBody>
      </p:sp>
      <p:sp>
        <p:nvSpPr>
          <p:cNvPr id="38" name="Oval 37">
            <a:extLst>
              <a:ext uri="{FF2B5EF4-FFF2-40B4-BE49-F238E27FC236}">
                <a16:creationId xmlns:a16="http://schemas.microsoft.com/office/drawing/2014/main" id="{711A62DB-4FB5-8C5E-1B03-0EFB45BA6BA8}"/>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51B44DCD-AA40-4AD0-1A9D-C49BB5D25514}"/>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7C8CC82A-6D3C-EEE0-951F-F758F762A128}"/>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admin verification for business trust</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51D7B6BB-1E12-F329-6CBF-B596A1C057B9}"/>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EFED11DC-8F09-05AF-D7C3-BE3981658314}"/>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Business data -&gt; organized records -&gt; deterministic analytics -&gt; next actions</a:t>
            </a:r>
            <a:endParaRPr lang="en-IN" sz="1600" b="1">
              <a:solidFill>
                <a:srgbClr val="0F172A"/>
              </a:solidFill>
              <a:latin typeface="Aptos" panose="020B0004020202020204" pitchFamily="34" charset="0"/>
            </a:endParaRPr>
          </a:p>
        </p:txBody>
      </p:sp>
      <p:pic>
        <p:nvPicPr>
          <p:cNvPr id="43" name="slide-12">
            <a:hlinkClick r:id="" action="ppaction://media"/>
            <a:extLst>
              <a:ext uri="{FF2B5EF4-FFF2-40B4-BE49-F238E27FC236}">
                <a16:creationId xmlns:a16="http://schemas.microsoft.com/office/drawing/2014/main" id="{84AB3636-BDCA-6E35-6925-BB7653C78E9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1063733037"/>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75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C79BD9-4BCF-C0D9-E56E-05F5701CBCDF}"/>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1D6FB94-4310-C56B-C198-324C25850EA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4DC9D22D-8F63-194B-9988-5F42627A50DA}"/>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REFERRAL PROGRAM</a:t>
            </a:r>
          </a:p>
        </p:txBody>
      </p:sp>
      <p:sp>
        <p:nvSpPr>
          <p:cNvPr id="6" name="TextBox 5">
            <a:extLst>
              <a:ext uri="{FF2B5EF4-FFF2-40B4-BE49-F238E27FC236}">
                <a16:creationId xmlns:a16="http://schemas.microsoft.com/office/drawing/2014/main" id="{BB329A27-76DF-1DD0-6717-CD990F80E2BB}"/>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Referrals stay traceable through payout</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D168F26B-CBA2-BD01-717E-BD975E3B4CB4}"/>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Members share a code and track rewards; administrators control eligibility, commission, and withdrawal states.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940257DA-E7BF-8258-6CC8-06C18D1A438C}"/>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13</a:t>
            </a:r>
          </a:p>
        </p:txBody>
      </p:sp>
      <p:sp>
        <p:nvSpPr>
          <p:cNvPr id="9" name="Rectangle: Rounded Corners 8">
            <a:extLst>
              <a:ext uri="{FF2B5EF4-FFF2-40B4-BE49-F238E27FC236}">
                <a16:creationId xmlns:a16="http://schemas.microsoft.com/office/drawing/2014/main" id="{5E406CA3-511D-F30D-9E8A-3FA089FB58AD}"/>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CA1C6EB0-D9AC-F640-2898-B886A4C21BD2}"/>
              </a:ext>
            </a:extLst>
          </p:cNvPr>
          <p:cNvSpPr/>
          <p:nvPr/>
        </p:nvSpPr>
        <p:spPr>
          <a:xfrm>
            <a:off x="635000" y="1625600"/>
            <a:ext cx="101600" cy="4000500"/>
          </a:xfrm>
          <a:prstGeom prst="rect">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F2620D5-7740-2752-F954-EEA049E4BBEB}"/>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E11D48"/>
                </a:solidFill>
                <a:latin typeface="Aptos" panose="020B0004020202020204" pitchFamily="34" charset="0"/>
              </a:rPr>
              <a:t>MEMBER SIDE</a:t>
            </a:r>
          </a:p>
        </p:txBody>
      </p:sp>
      <p:sp>
        <p:nvSpPr>
          <p:cNvPr id="12" name="TextBox 11">
            <a:extLst>
              <a:ext uri="{FF2B5EF4-FFF2-40B4-BE49-F238E27FC236}">
                <a16:creationId xmlns:a16="http://schemas.microsoft.com/office/drawing/2014/main" id="{514C2075-4EC9-7661-127B-259487155395}"/>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Refer and track rewards</a:t>
            </a:r>
          </a:p>
        </p:txBody>
      </p:sp>
      <p:sp>
        <p:nvSpPr>
          <p:cNvPr id="13" name="Oval 12">
            <a:extLst>
              <a:ext uri="{FF2B5EF4-FFF2-40B4-BE49-F238E27FC236}">
                <a16:creationId xmlns:a16="http://schemas.microsoft.com/office/drawing/2014/main" id="{1DFBFCAC-DEAB-DAA9-91FE-9D1E5D06D083}"/>
              </a:ext>
            </a:extLst>
          </p:cNvPr>
          <p:cNvSpPr/>
          <p:nvPr/>
        </p:nvSpPr>
        <p:spPr>
          <a:xfrm>
            <a:off x="990600" y="30988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E362CB9-BD35-E891-3C64-121CF0CF7AC6}"/>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C18E2ABD-5A82-D5CC-E80E-6A2227A405EC}"/>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Earn &amp; Partner</a:t>
            </a:r>
          </a:p>
        </p:txBody>
      </p:sp>
      <p:sp>
        <p:nvSpPr>
          <p:cNvPr id="16" name="Oval 15">
            <a:extLst>
              <a:ext uri="{FF2B5EF4-FFF2-40B4-BE49-F238E27FC236}">
                <a16:creationId xmlns:a16="http://schemas.microsoft.com/office/drawing/2014/main" id="{9CB45075-5E8D-CC6F-AAE8-00D98C4697BD}"/>
              </a:ext>
            </a:extLst>
          </p:cNvPr>
          <p:cNvSpPr/>
          <p:nvPr/>
        </p:nvSpPr>
        <p:spPr>
          <a:xfrm>
            <a:off x="990600" y="36830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52D0BA14-EC03-A429-DDF5-17C3FF7004AC}"/>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CBB67330-5B8A-F463-8FEB-4C0BBE0A8677}"/>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Copy or share the referral link</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AB4948B4-D9FB-B47C-7BBF-97D8BA527713}"/>
              </a:ext>
            </a:extLst>
          </p:cNvPr>
          <p:cNvSpPr/>
          <p:nvPr/>
        </p:nvSpPr>
        <p:spPr>
          <a:xfrm>
            <a:off x="990600" y="42672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E233DC2C-9B53-1BA7-81AB-7EA3F85769AB}"/>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3AF856EF-53C3-28EA-3046-D578C75F0D56}"/>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Track referred member activity</a:t>
            </a:r>
          </a:p>
        </p:txBody>
      </p:sp>
      <p:sp>
        <p:nvSpPr>
          <p:cNvPr id="22" name="Oval 21">
            <a:extLst>
              <a:ext uri="{FF2B5EF4-FFF2-40B4-BE49-F238E27FC236}">
                <a16:creationId xmlns:a16="http://schemas.microsoft.com/office/drawing/2014/main" id="{E3F113B9-9D17-95C4-4F3C-CF9EBB0050B1}"/>
              </a:ext>
            </a:extLst>
          </p:cNvPr>
          <p:cNvSpPr/>
          <p:nvPr/>
        </p:nvSpPr>
        <p:spPr>
          <a:xfrm>
            <a:off x="990600" y="48514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8C541982-CFF4-BD46-829D-8DA6EC84AF33}"/>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19F6B1D5-2080-A6DC-B0A1-A3C99F384FD4}"/>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Request withdrawal when eligible</a:t>
            </a:r>
          </a:p>
        </p:txBody>
      </p:sp>
      <p:sp>
        <p:nvSpPr>
          <p:cNvPr id="25" name="Rectangle: Rounded Corners 24">
            <a:extLst>
              <a:ext uri="{FF2B5EF4-FFF2-40B4-BE49-F238E27FC236}">
                <a16:creationId xmlns:a16="http://schemas.microsoft.com/office/drawing/2014/main" id="{86D7B4E5-DFF7-AC1F-A1F7-0B206E366465}"/>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EAF59256-43BC-5DBF-7E38-737638EEBBB7}"/>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17AED9A1-1957-74A8-0ED8-7286F4A2918F}"/>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ADMIN FINANCE SIDE</a:t>
            </a:r>
          </a:p>
        </p:txBody>
      </p:sp>
      <p:sp>
        <p:nvSpPr>
          <p:cNvPr id="28" name="TextBox 27">
            <a:extLst>
              <a:ext uri="{FF2B5EF4-FFF2-40B4-BE49-F238E27FC236}">
                <a16:creationId xmlns:a16="http://schemas.microsoft.com/office/drawing/2014/main" id="{F8383CDB-426A-EE4D-2FD8-0CFA749023EC}"/>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Review commissions and payouts</a:t>
            </a:r>
          </a:p>
        </p:txBody>
      </p:sp>
      <p:sp>
        <p:nvSpPr>
          <p:cNvPr id="29" name="Oval 28">
            <a:extLst>
              <a:ext uri="{FF2B5EF4-FFF2-40B4-BE49-F238E27FC236}">
                <a16:creationId xmlns:a16="http://schemas.microsoft.com/office/drawing/2014/main" id="{1C22C6CA-2020-0327-D3F7-2E031D5A79B5}"/>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8D1D574C-D8E6-E816-B870-D5BD0B7D2D14}"/>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DACEDF28-2322-3804-B9D8-AF7022CE318D}"/>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the referral ledger</a:t>
            </a:r>
          </a:p>
        </p:txBody>
      </p:sp>
      <p:sp>
        <p:nvSpPr>
          <p:cNvPr id="32" name="Oval 31">
            <a:extLst>
              <a:ext uri="{FF2B5EF4-FFF2-40B4-BE49-F238E27FC236}">
                <a16:creationId xmlns:a16="http://schemas.microsoft.com/office/drawing/2014/main" id="{9F74E1D3-434F-F3E6-77F8-E7456201CF42}"/>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AB16CED5-9595-5B11-B98D-E99D6900CAF9}"/>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AE93527A-C277-9B51-1F1C-248DBEF22350}"/>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Confirm eligibility and commission state</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7758E184-B2A1-6160-E705-86853ECBD26B}"/>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E394EAD-FE66-B352-04A0-B18CDA3A52BC}"/>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4480565E-0269-67CF-0D2B-9D1F3919C3A8}"/>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Approve or reject withdrawals</a:t>
            </a:r>
          </a:p>
        </p:txBody>
      </p:sp>
      <p:sp>
        <p:nvSpPr>
          <p:cNvPr id="38" name="Oval 37">
            <a:extLst>
              <a:ext uri="{FF2B5EF4-FFF2-40B4-BE49-F238E27FC236}">
                <a16:creationId xmlns:a16="http://schemas.microsoft.com/office/drawing/2014/main" id="{F1D277D8-6061-8922-A079-E1A3C21686AA}"/>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98EA7471-DACC-D3E7-E86A-C71541FF752A}"/>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441884BF-3786-4233-F148-CD92BF51E99D}"/>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Keep the payout history auditable</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67D0AE98-7E4F-0F8D-FAA5-2440770964E4}"/>
              </a:ext>
            </a:extLst>
          </p:cNvPr>
          <p:cNvSpPr/>
          <p:nvPr/>
        </p:nvSpPr>
        <p:spPr>
          <a:xfrm>
            <a:off x="635000" y="5918200"/>
            <a:ext cx="10922000" cy="19050"/>
          </a:xfrm>
          <a:prstGeom prst="rect">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6FD62227-5FB9-D101-6EFC-6FF8C014CA6F}"/>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Referral link -&gt; qualifying activity -&gt; commission ledger -&gt; approved payout</a:t>
            </a:r>
            <a:endParaRPr lang="en-IN" sz="1600" b="1">
              <a:solidFill>
                <a:srgbClr val="0F172A"/>
              </a:solidFill>
              <a:latin typeface="Aptos" panose="020B0004020202020204" pitchFamily="34" charset="0"/>
            </a:endParaRPr>
          </a:p>
        </p:txBody>
      </p:sp>
      <p:pic>
        <p:nvPicPr>
          <p:cNvPr id="43" name="slide-13">
            <a:hlinkClick r:id="" action="ppaction://media"/>
            <a:extLst>
              <a:ext uri="{FF2B5EF4-FFF2-40B4-BE49-F238E27FC236}">
                <a16:creationId xmlns:a16="http://schemas.microsoft.com/office/drawing/2014/main" id="{8C2F9083-EA9C-7159-E4AC-FE804AFD8E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819300609"/>
      </p:ext>
    </p:extLst>
  </p:cSld>
  <p:clrMapOvr>
    <a:masterClrMapping/>
  </p:clrMapOvr>
  <mc:AlternateContent xmlns:mc="http://schemas.openxmlformats.org/markup-compatibility/2006">
    <mc:Choice xmlns:p14="http://schemas.microsoft.com/office/powerpoint/2010/main" Requires="p14">
      <p:transition spd="slow" p14:dur="2000" advClick="0" advTm="31000"/>
    </mc:Choice>
    <mc:Fallback>
      <p:transition spd="slow" advClick="0" advTm="31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038"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C359E1-7E5E-6964-48C0-CF8F0B36B2CA}"/>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1110085-8EA4-0064-9AAF-498EA5FCA9AD}"/>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FA488659-3635-0AB7-44C3-72F0AD7645F8}"/>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SUPPORT AND TRUST</a:t>
            </a:r>
          </a:p>
        </p:txBody>
      </p:sp>
      <p:sp>
        <p:nvSpPr>
          <p:cNvPr id="6" name="TextBox 5">
            <a:extLst>
              <a:ext uri="{FF2B5EF4-FFF2-40B4-BE49-F238E27FC236}">
                <a16:creationId xmlns:a16="http://schemas.microsoft.com/office/drawing/2014/main" id="{FC86682A-31F2-338F-661B-2A3764D28896}"/>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Trust and tracking close every workflow</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68F7E7F9-F88D-4842-2EC8-7BD1D734FA21}"/>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see service status and conversations; providers and administrators use restricted operational views.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0A65D017-9D37-12D7-FD4B-887995848EAF}"/>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14</a:t>
            </a:r>
          </a:p>
        </p:txBody>
      </p:sp>
      <p:sp>
        <p:nvSpPr>
          <p:cNvPr id="9" name="Rectangle: Rounded Corners 8">
            <a:extLst>
              <a:ext uri="{FF2B5EF4-FFF2-40B4-BE49-F238E27FC236}">
                <a16:creationId xmlns:a16="http://schemas.microsoft.com/office/drawing/2014/main" id="{9C351DCE-2699-9F25-71CF-64F99294897A}"/>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DC03841-5AF0-DD33-DCF9-100C84C76323}"/>
              </a:ext>
            </a:extLst>
          </p:cNvPr>
          <p:cNvSpPr/>
          <p:nvPr/>
        </p:nvSpPr>
        <p:spPr>
          <a:xfrm>
            <a:off x="635000" y="1625600"/>
            <a:ext cx="101600" cy="400050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22CADAC-1712-62E4-C75D-0DF33B7819CF}"/>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7C3AED"/>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C19728B8-990F-F257-A8EE-94BA276091D7}"/>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Track and get help</a:t>
            </a:r>
          </a:p>
        </p:txBody>
      </p:sp>
      <p:sp>
        <p:nvSpPr>
          <p:cNvPr id="13" name="Oval 12">
            <a:extLst>
              <a:ext uri="{FF2B5EF4-FFF2-40B4-BE49-F238E27FC236}">
                <a16:creationId xmlns:a16="http://schemas.microsoft.com/office/drawing/2014/main" id="{A6444269-6397-43CC-C467-64ED8741C221}"/>
              </a:ext>
            </a:extLst>
          </p:cNvPr>
          <p:cNvSpPr/>
          <p:nvPr/>
        </p:nvSpPr>
        <p:spPr>
          <a:xfrm>
            <a:off x="990600" y="30988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9ECD87A-92C3-6DE9-3372-B57D0CDCA35F}"/>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42B1BC6F-311B-2397-D725-BBE5FED9AD2A}"/>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Account or My Services</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0F91AEFC-9C36-0F2B-2431-B77D63A01D6E}"/>
              </a:ext>
            </a:extLst>
          </p:cNvPr>
          <p:cNvSpPr/>
          <p:nvPr/>
        </p:nvSpPr>
        <p:spPr>
          <a:xfrm>
            <a:off x="990600" y="36830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BCF781A-ACD5-92A0-2652-86FD2E668961}"/>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D2820FDC-0F81-BF5B-D6B4-D74A49A1ACCE}"/>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notifications and current status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94EAD1E0-D099-E531-A672-E9267303D0E2}"/>
              </a:ext>
            </a:extLst>
          </p:cNvPr>
          <p:cNvSpPr/>
          <p:nvPr/>
        </p:nvSpPr>
        <p:spPr>
          <a:xfrm>
            <a:off x="990600" y="42672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842C594-DBCE-03B0-3392-AC5DB0E8C7C3}"/>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6BEE7FED-33E7-82C8-4710-E3E4E00118D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Create a categorized support ticket</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8FE4C6AD-F284-940B-81FA-27BA7B93FA0C}"/>
              </a:ext>
            </a:extLst>
          </p:cNvPr>
          <p:cNvSpPr/>
          <p:nvPr/>
        </p:nvSpPr>
        <p:spPr>
          <a:xfrm>
            <a:off x="990600" y="48514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F2326C57-15E6-E1C3-9A83-3C86455F77AE}"/>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8A1D46CA-ADE6-93F8-C29E-570D32CE57AF}"/>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Follow the customer-visible conversation</a:t>
            </a:r>
          </a:p>
        </p:txBody>
      </p:sp>
      <p:sp>
        <p:nvSpPr>
          <p:cNvPr id="25" name="Rectangle: Rounded Corners 24">
            <a:extLst>
              <a:ext uri="{FF2B5EF4-FFF2-40B4-BE49-F238E27FC236}">
                <a16:creationId xmlns:a16="http://schemas.microsoft.com/office/drawing/2014/main" id="{048CF8D3-5604-8415-8DF0-BE527D439CEE}"/>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5CEC25E7-6B98-E7AD-4D5A-858592CBDCCA}"/>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5358AF8C-FDD5-B425-4D39-55A961678A6C}"/>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PROVIDER AND ADMIN SIDE</a:t>
            </a:r>
          </a:p>
        </p:txBody>
      </p:sp>
      <p:sp>
        <p:nvSpPr>
          <p:cNvPr id="28" name="TextBox 27">
            <a:extLst>
              <a:ext uri="{FF2B5EF4-FFF2-40B4-BE49-F238E27FC236}">
                <a16:creationId xmlns:a16="http://schemas.microsoft.com/office/drawing/2014/main" id="{C23BC2DC-B3DE-87C6-00AC-CF76869CBBC2}"/>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Resolve and protect</a:t>
            </a:r>
          </a:p>
        </p:txBody>
      </p:sp>
      <p:sp>
        <p:nvSpPr>
          <p:cNvPr id="29" name="Oval 28">
            <a:extLst>
              <a:ext uri="{FF2B5EF4-FFF2-40B4-BE49-F238E27FC236}">
                <a16:creationId xmlns:a16="http://schemas.microsoft.com/office/drawing/2014/main" id="{25FCDE71-2BCC-A491-C70E-A8BADD3A8B96}"/>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6E91698-0572-98AE-0C45-1C03666FABE1}"/>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6B56FAAC-92DA-3623-120A-77AE892244A1}"/>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Use assigned operational queues</a:t>
            </a:r>
          </a:p>
        </p:txBody>
      </p:sp>
      <p:sp>
        <p:nvSpPr>
          <p:cNvPr id="32" name="Oval 31">
            <a:extLst>
              <a:ext uri="{FF2B5EF4-FFF2-40B4-BE49-F238E27FC236}">
                <a16:creationId xmlns:a16="http://schemas.microsoft.com/office/drawing/2014/main" id="{C9807627-A0BA-373A-0814-6D1E68FBE06D}"/>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BA1F97DE-DEC8-23AD-D4E3-BBC758C882C7}"/>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AA02E534-B492-0012-98A7-4618224176E5}"/>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Keep internal notes separate</a:t>
            </a:r>
          </a:p>
        </p:txBody>
      </p:sp>
      <p:sp>
        <p:nvSpPr>
          <p:cNvPr id="35" name="Oval 34">
            <a:extLst>
              <a:ext uri="{FF2B5EF4-FFF2-40B4-BE49-F238E27FC236}">
                <a16:creationId xmlns:a16="http://schemas.microsoft.com/office/drawing/2014/main" id="{390E1C5D-FC6E-386D-BD2A-A8740E890E74}"/>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FDF1513F-7AB1-6378-3FA3-5B0B45F8D580}"/>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18984AFE-5B20-E6A6-6104-E2638A46B561}"/>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Verify businesses and professionals</a:t>
            </a:r>
          </a:p>
        </p:txBody>
      </p:sp>
      <p:sp>
        <p:nvSpPr>
          <p:cNvPr id="38" name="Oval 37">
            <a:extLst>
              <a:ext uri="{FF2B5EF4-FFF2-40B4-BE49-F238E27FC236}">
                <a16:creationId xmlns:a16="http://schemas.microsoft.com/office/drawing/2014/main" id="{71CF2D2B-67B6-509C-0F92-2DBA013090B1}"/>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6E05784B-DB3C-D0F2-0595-771DBB418214}"/>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AA2E21CB-5F3B-D18E-777E-25C58A80650F}"/>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Record decisions, reviewer, and audit events</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4C4504B3-03E9-811A-D987-F625C1620B66}"/>
              </a:ext>
            </a:extLst>
          </p:cNvPr>
          <p:cNvSpPr/>
          <p:nvPr/>
        </p:nvSpPr>
        <p:spPr>
          <a:xfrm>
            <a:off x="635000" y="5918200"/>
            <a:ext cx="10922000" cy="1905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FDC5FBEF-BF0A-3C84-A774-D2DA974CFAFB}"/>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Visible status -&gt; categorized support -&gt; restricted handling -&gt; auditable resolution</a:t>
            </a:r>
            <a:endParaRPr lang="en-IN" sz="1600" b="1">
              <a:solidFill>
                <a:srgbClr val="0F172A"/>
              </a:solidFill>
              <a:latin typeface="Aptos" panose="020B0004020202020204" pitchFamily="34" charset="0"/>
            </a:endParaRPr>
          </a:p>
        </p:txBody>
      </p:sp>
      <p:pic>
        <p:nvPicPr>
          <p:cNvPr id="43" name="slide-14">
            <a:hlinkClick r:id="" action="ppaction://media"/>
            <a:extLst>
              <a:ext uri="{FF2B5EF4-FFF2-40B4-BE49-F238E27FC236}">
                <a16:creationId xmlns:a16="http://schemas.microsoft.com/office/drawing/2014/main" id="{E9DE1169-445C-9F18-DCB4-F0171C467FC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1334028564"/>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873"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42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B69849-E955-C493-17E1-D605BF1E0DC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85800" y="609600"/>
            <a:ext cx="3556000" cy="1016000"/>
          </a:xfrm>
          <a:prstGeom prst="rect">
            <a:avLst/>
          </a:prstGeom>
        </p:spPr>
      </p:pic>
      <p:sp>
        <p:nvSpPr>
          <p:cNvPr id="4" name="TextBox 3">
            <a:extLst>
              <a:ext uri="{FF2B5EF4-FFF2-40B4-BE49-F238E27FC236}">
                <a16:creationId xmlns:a16="http://schemas.microsoft.com/office/drawing/2014/main" id="{7AA899C5-BB8C-09ED-D020-CA86257AFBEC}"/>
              </a:ext>
            </a:extLst>
          </p:cNvPr>
          <p:cNvSpPr txBox="1"/>
          <p:nvPr/>
        </p:nvSpPr>
        <p:spPr>
          <a:xfrm>
            <a:off x="685800" y="2311400"/>
            <a:ext cx="10795000" cy="661720"/>
          </a:xfrm>
          <a:prstGeom prst="rect">
            <a:avLst/>
          </a:prstGeom>
          <a:noFill/>
        </p:spPr>
        <p:txBody>
          <a:bodyPr vert="horz" wrap="square" lIns="0" tIns="0" rIns="0" bIns="0" rtlCol="0">
            <a:spAutoFit/>
          </a:bodyPr>
          <a:lstStyle/>
          <a:p>
            <a:r>
              <a:rPr lang="en-IN" sz="4300" b="1">
                <a:solidFill>
                  <a:srgbClr val="FFFFFF"/>
                </a:solidFill>
                <a:latin typeface="Aptos" panose="020B0004020202020204" pitchFamily="34" charset="0"/>
              </a:rPr>
              <a:t>Start with the role.</a:t>
            </a:r>
          </a:p>
        </p:txBody>
      </p:sp>
      <p:sp>
        <p:nvSpPr>
          <p:cNvPr id="5" name="TextBox 4">
            <a:extLst>
              <a:ext uri="{FF2B5EF4-FFF2-40B4-BE49-F238E27FC236}">
                <a16:creationId xmlns:a16="http://schemas.microsoft.com/office/drawing/2014/main" id="{613618B9-0FE2-AEED-1409-94DF1742F364}"/>
              </a:ext>
            </a:extLst>
          </p:cNvPr>
          <p:cNvSpPr txBox="1"/>
          <p:nvPr/>
        </p:nvSpPr>
        <p:spPr>
          <a:xfrm>
            <a:off x="685800" y="3162300"/>
            <a:ext cx="10795000" cy="492443"/>
          </a:xfrm>
          <a:prstGeom prst="rect">
            <a:avLst/>
          </a:prstGeom>
          <a:noFill/>
        </p:spPr>
        <p:txBody>
          <a:bodyPr vert="horz" wrap="square" lIns="0" tIns="0" rIns="0" bIns="0" rtlCol="0">
            <a:spAutoFit/>
          </a:bodyPr>
          <a:lstStyle/>
          <a:p>
            <a:r>
              <a:rPr lang="en-US" sz="3200" b="1">
                <a:solidFill>
                  <a:srgbClr val="BAE6FD"/>
                </a:solidFill>
                <a:latin typeface="Aptos" panose="020B0004020202020204" pitchFamily="34" charset="0"/>
              </a:rPr>
              <a:t>Follow the workflow. Track every outcome.</a:t>
            </a:r>
            <a:endParaRPr lang="en-IN" sz="3200" b="1">
              <a:solidFill>
                <a:srgbClr val="BAE6FD"/>
              </a:solidFill>
              <a:latin typeface="Aptos" panose="020B0004020202020204" pitchFamily="34" charset="0"/>
            </a:endParaRPr>
          </a:p>
        </p:txBody>
      </p:sp>
      <p:sp>
        <p:nvSpPr>
          <p:cNvPr id="6" name="TextBox 5">
            <a:extLst>
              <a:ext uri="{FF2B5EF4-FFF2-40B4-BE49-F238E27FC236}">
                <a16:creationId xmlns:a16="http://schemas.microsoft.com/office/drawing/2014/main" id="{63B4FA64-0C39-6E60-B56C-9586F39F07AF}"/>
              </a:ext>
            </a:extLst>
          </p:cNvPr>
          <p:cNvSpPr txBox="1"/>
          <p:nvPr/>
        </p:nvSpPr>
        <p:spPr>
          <a:xfrm>
            <a:off x="685800" y="4470400"/>
            <a:ext cx="10160000" cy="276999"/>
          </a:xfrm>
          <a:prstGeom prst="rect">
            <a:avLst/>
          </a:prstGeom>
          <a:noFill/>
        </p:spPr>
        <p:txBody>
          <a:bodyPr vert="horz" wrap="square" lIns="0" tIns="0" rIns="0" bIns="0" rtlCol="0">
            <a:spAutoFit/>
          </a:bodyPr>
          <a:lstStyle/>
          <a:p>
            <a:r>
              <a:rPr lang="en-US" sz="1800">
                <a:solidFill>
                  <a:srgbClr val="FFFFFF"/>
                </a:solidFill>
                <a:latin typeface="Aptos" panose="020B0004020202020204" pitchFamily="34" charset="0"/>
              </a:rPr>
              <a:t>Customer: Home -&gt; service -&gt; Account or Business workspace</a:t>
            </a:r>
            <a:endParaRPr lang="en-IN" sz="1800">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445236DB-2C02-B89D-E886-61A27DD91888}"/>
              </a:ext>
            </a:extLst>
          </p:cNvPr>
          <p:cNvSpPr txBox="1"/>
          <p:nvPr/>
        </p:nvSpPr>
        <p:spPr>
          <a:xfrm>
            <a:off x="685800" y="4953000"/>
            <a:ext cx="10160000" cy="276999"/>
          </a:xfrm>
          <a:prstGeom prst="rect">
            <a:avLst/>
          </a:prstGeom>
          <a:noFill/>
        </p:spPr>
        <p:txBody>
          <a:bodyPr vert="horz" wrap="square" lIns="0" tIns="0" rIns="0" bIns="0" rtlCol="0">
            <a:spAutoFit/>
          </a:bodyPr>
          <a:lstStyle/>
          <a:p>
            <a:r>
              <a:rPr lang="en-US" sz="1800">
                <a:solidFill>
                  <a:srgbClr val="FFFFFF"/>
                </a:solidFill>
                <a:latin typeface="Aptos" panose="020B0004020202020204" pitchFamily="34" charset="0"/>
              </a:rPr>
              <a:t>Provider: Onboarding -&gt; verification -&gt; Partner or Firm workspace</a:t>
            </a:r>
            <a:endParaRPr lang="en-IN" sz="1800">
              <a:solidFill>
                <a:srgbClr val="FFFFFF"/>
              </a:solidFill>
              <a:latin typeface="Aptos" panose="020B0004020202020204" pitchFamily="34" charset="0"/>
            </a:endParaRPr>
          </a:p>
        </p:txBody>
      </p:sp>
      <p:sp>
        <p:nvSpPr>
          <p:cNvPr id="8" name="TextBox 7">
            <a:extLst>
              <a:ext uri="{FF2B5EF4-FFF2-40B4-BE49-F238E27FC236}">
                <a16:creationId xmlns:a16="http://schemas.microsoft.com/office/drawing/2014/main" id="{948DD88F-AADC-4964-5868-6419B521AA73}"/>
              </a:ext>
            </a:extLst>
          </p:cNvPr>
          <p:cNvSpPr txBox="1"/>
          <p:nvPr/>
        </p:nvSpPr>
        <p:spPr>
          <a:xfrm>
            <a:off x="685800" y="5435600"/>
            <a:ext cx="10160000" cy="276999"/>
          </a:xfrm>
          <a:prstGeom prst="rect">
            <a:avLst/>
          </a:prstGeom>
          <a:noFill/>
        </p:spPr>
        <p:txBody>
          <a:bodyPr vert="horz" wrap="square" lIns="0" tIns="0" rIns="0" bIns="0" rtlCol="0">
            <a:spAutoFit/>
          </a:bodyPr>
          <a:lstStyle/>
          <a:p>
            <a:r>
              <a:rPr lang="en-US" sz="1800">
                <a:solidFill>
                  <a:srgbClr val="FFFFFF"/>
                </a:solidFill>
                <a:latin typeface="Aptos" panose="020B0004020202020204" pitchFamily="34" charset="0"/>
              </a:rPr>
              <a:t>Admin: verification -&gt; operations -&gt; fees, support, and audit</a:t>
            </a:r>
            <a:endParaRPr lang="en-IN" sz="1800">
              <a:solidFill>
                <a:srgbClr val="FFFFFF"/>
              </a:solidFill>
              <a:latin typeface="Aptos" panose="020B0004020202020204" pitchFamily="34" charset="0"/>
            </a:endParaRPr>
          </a:p>
        </p:txBody>
      </p:sp>
      <p:pic>
        <p:nvPicPr>
          <p:cNvPr id="9" name="slide-15">
            <a:hlinkClick r:id="" action="ppaction://media"/>
            <a:extLst>
              <a:ext uri="{FF2B5EF4-FFF2-40B4-BE49-F238E27FC236}">
                <a16:creationId xmlns:a16="http://schemas.microsoft.com/office/drawing/2014/main" id="{8F358D3F-4941-CF10-FBCB-0AE4E66C251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014200" y="6680200"/>
            <a:ext cx="25400" cy="25400"/>
          </a:xfrm>
          <a:prstGeom prst="rect">
            <a:avLst/>
          </a:prstGeom>
        </p:spPr>
      </p:pic>
    </p:spTree>
    <p:extLst>
      <p:ext uri="{BB962C8B-B14F-4D97-AF65-F5344CB8AC3E}">
        <p14:creationId xmlns:p14="http://schemas.microsoft.com/office/powerpoint/2010/main" val="3660612932"/>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133"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2726</Words>
  <Application>Microsoft Office PowerPoint</Application>
  <PresentationFormat>Custom</PresentationFormat>
  <Paragraphs>401</Paragraphs>
  <Slides>15</Slides>
  <Notes>15</Notes>
  <HiddenSlides>0</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 SAI PULIPATI (RA2311027010007)</dc:creator>
  <cp:lastModifiedBy>BHARAT SAI PULIPATI (RA2311027010007)</cp:lastModifiedBy>
  <cp:revision>1</cp:revision>
  <dcterms:created xsi:type="dcterms:W3CDTF">2026-07-26T13:32:29Z</dcterms:created>
  <dcterms:modified xsi:type="dcterms:W3CDTF">2026-07-26T13:32:30Z</dcterms:modified>
</cp:coreProperties>
</file>